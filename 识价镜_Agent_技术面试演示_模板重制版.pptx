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90c5145b064791" /><Relationship Type="http://schemas.openxmlformats.org/officeDocument/2006/relationships/extended-properties" Target="/docProps/app.xml" Id="R4ac9079a98ac4a85" /><Relationship Type="http://schemas.openxmlformats.org/officeDocument/2006/relationships/officeDocument" Target="/ppt/presentation.xml" Id="Rb54d569a748b4b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7adaa22c164244"/>
  </p:sldMasterIdLst>
  <p:notesMasterIdLst>
    <p:notesMasterId xmlns:r="http://schemas.openxmlformats.org/officeDocument/2006/relationships" r:id="R2cd635f398e74071"/>
  </p:notesMasterIdLst>
  <p:sldIdLst>
    <p:sldId xmlns:r="http://schemas.openxmlformats.org/officeDocument/2006/relationships" id="256" r:id="R05a0ff0824584cdd"/>
    <p:sldId xmlns:r="http://schemas.openxmlformats.org/officeDocument/2006/relationships" id="257" r:id="Re4b11fcfdcfd42ba"/>
    <p:sldId xmlns:r="http://schemas.openxmlformats.org/officeDocument/2006/relationships" id="258" r:id="Rcf14c18eed6647d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94d8121ea84709" /><Relationship Type="http://schemas.openxmlformats.org/officeDocument/2006/relationships/slideMaster" Target="/ppt/slideMasters/slideMaster1.xml" Id="R157adaa22c164244" /><Relationship Type="http://schemas.openxmlformats.org/officeDocument/2006/relationships/notesMaster" Target="/ppt/notesMasters/notesMaster1.xml" Id="R2cd635f398e74071" /><Relationship Type="http://schemas.openxmlformats.org/officeDocument/2006/relationships/presProps" Target="/ppt/presProps.xml" Id="R48e42757127342bf" /><Relationship Type="http://schemas.openxmlformats.org/officeDocument/2006/relationships/tableStyles" Target="/ppt/tableStyles.xml" Id="R47bf18fbdb024dc9" /><Relationship Type="http://schemas.openxmlformats.org/officeDocument/2006/relationships/slide" Target="/ppt/slides/slide1.xml" Id="R05a0ff0824584cdd" /><Relationship Type="http://schemas.openxmlformats.org/officeDocument/2006/relationships/slide" Target="/ppt/slides/slide2.xml" Id="Re4b11fcfdcfd42ba" /><Relationship Type="http://schemas.openxmlformats.org/officeDocument/2006/relationships/slide" Target="/ppt/slides/slide3.xml" Id="Rcf14c18eed6647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bbcaf2cfe0947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2e53cadd1f4449" /><Relationship Type="http://schemas.openxmlformats.org/officeDocument/2006/relationships/notesMaster" Target="/ppt/notesMasters/notesMaster1.xml" Id="R24ffac9036bf46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04130857ca4784" /><Relationship Type="http://schemas.openxmlformats.org/officeDocument/2006/relationships/notesMaster" Target="/ppt/notesMasters/notesMaster1.xml" Id="Rb3e30ae9dbbb471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d819f602c8445d" /><Relationship Type="http://schemas.openxmlformats.org/officeDocument/2006/relationships/notesMaster" Target="/ppt/notesMasters/notesMaster1.xml" Id="R0a860eecc79948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识价镜解决的是用户看到商品却无法准确搜索和比价的问题。项目把图片或文本转成结构化商品信息，再结合用户约束完成检索、同款判定、SKU 拆分和证据解释。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D:\E.C.26-B\README.md</a:t>
            </a:r>
          </a:p>
          <a:p xmlns:a="http://schemas.openxmlformats.org/drawingml/2006/main">
            <a:r>
              <a:t>- Generated cover visual: D:\E.C.26-B\.codex_tmp\ppt_redesign_v2\assets\ai-shopping-cover.png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整套项目按四个技术点展开：受控 Multi-Agent、混合 RAG、三层记忆与 HITL、确定性同款与比价。四个点对应简历中的识价镜项目亮点。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D:\实习\简历\output\pdf\张思成_简历.pdf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用户输入的核心问题不是缺少相似图片，而是缺少可以确认、检索和比较的商品对象。系统先结构化识别，再合并带来源的约束，随后做混合召回、同款判定和 SKU 拆分，最终只在可比对象内排序。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D:\实习\简历\output\pdf\张思成_简历.pdf</a:t>
            </a:r>
          </a:p>
          <a:p xmlns:a="http://schemas.openxmlformats.org/drawingml/2006/main">
            <a:r>
              <a:t>- D:\E.C.26-B\src\shijiajing_agent\contracts.py</a:t>
            </a:r>
          </a:p>
          <a:p xmlns:a="http://schemas.openxmlformats.org/drawingml/2006/main">
            <a:r>
              <a:t>- D:\E.C.26-B\docs\architecture.md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f7b48639604f9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797704cbd445f8" /><Relationship Type="http://schemas.openxmlformats.org/officeDocument/2006/relationships/slideLayout" Target="/ppt/slideLayouts/slideLayout1.xml" Id="R4525f2e929f845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25f2e929f845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b41b59428049a9" /><Relationship Type="http://schemas.openxmlformats.org/officeDocument/2006/relationships/image" Target="/ppt/media/image.png" Id="Rcad1a1e0d29e4913" /><Relationship Type="http://schemas.openxmlformats.org/officeDocument/2006/relationships/notesSlide" Target="/ppt/notesSlides/notesSlide1.xml" Id="Re6718e851c4d40c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45019f328c4b6b" /><Relationship Type="http://schemas.openxmlformats.org/officeDocument/2006/relationships/notesSlide" Target="/ppt/notesSlides/notesSlide2.xml" Id="R4c3f820dc7374e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c446abdd444049" /><Relationship Type="http://schemas.openxmlformats.org/officeDocument/2006/relationships/notesSlide" Target="/ppt/notesSlides/notesSlide3.xml" Id="Rfeb2a6ecf876494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25185E55-4993-4FE2-A8D8-F53EF4A2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8A2D098D-D4E0-429A-9F92-C728B43D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Aft>
                <a:spcPts val="7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识价镜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238B7B35-1594-40FF-9133-E859FC57D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0" name="Picture-3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d1a1e0d29e4913"/>
          <a:srcRect xmlns:a="http://schemas.openxmlformats.org/drawingml/2006/main" l="556" t="0" r="5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/>
          </a:prstGeom>
        </p:spPr>
      </p:pic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E0EDF25D-B7C0-44F9-9BCB-E2528139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12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AI 拍照识物与智能比价购物助手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rPr>
              <a:t>把模糊的“我想买这个”，转成可检索、可比较、可解释的购物决策。</a:t>
            </a:r>
          </a:p>
        </p:txBody>
      </p:sp>
      <p:sp>
        <p:nvSpPr>
          <p:cNvPr id="6" name="cover-byline">
            <a:extLst xmlns:a="http://schemas.openxmlformats.org/drawingml/2006/main">
              <a:ext uri="{FF2B5EF4-FFF2-40B4-BE49-F238E27FC236}">
                <a16:creationId xmlns:a16="http://schemas.microsoft.com/office/drawing/2014/main" id="{45E71BA7-6097-496D-9117-5A6E3771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4864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张思成  ·  AI Agent 开发工程师</a:t>
            </a:r>
          </a:p>
        </p:txBody>
      </p:sp>
    </p:spTree>
    <p:extLst>
      <p:ext uri="{BB962C8B-B14F-4D97-AF65-F5344CB8AC3E}">
        <p14:creationId xmlns:p14="http://schemas.microsoft.com/office/powerpoint/2010/main" val="70727613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genda-page-number">
            <a:extLst xmlns:a="http://schemas.openxmlformats.org/drawingml/2006/main">
              <a:ext uri="{FF2B5EF4-FFF2-40B4-BE49-F238E27FC236}">
                <a16:creationId xmlns:a16="http://schemas.microsoft.com/office/drawing/2014/main" id="{CE537B22-5EDB-4E1F-A519-D25482583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2" name="agenda-title">
            <a:extLst xmlns:a="http://schemas.openxmlformats.org/drawingml/2006/main">
              <a:ext uri="{FF2B5EF4-FFF2-40B4-BE49-F238E27FC236}">
                <a16:creationId xmlns:a16="http://schemas.microsoft.com/office/drawing/2014/main" id="{A850F9F6-355C-4D14-B960-62F55056B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Aft>
                <a:spcPts val="700"/>
              </a:spcAft>
              <a:buNone/>
              <a:defRPr sz="29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四个技术点，串起完整购物链路</a:t>
            </a:r>
          </a:p>
        </p:txBody>
      </p:sp>
      <p:graphicFrame>
        <p:nvGraphicFramePr>
          <p:cNvPr id="6" name="agenda-table"/>
          <p:cNvGraphicFramePr/>
          <p:nvPr/>
        </p:nvGraphicFramePr>
        <p:xfrm>
          <a:off xmlns:a="http://schemas.openxmlformats.org/drawingml/2006/main" x="393668" y="2079974"/>
          <a:ext xmlns:a="http://schemas.openxmlformats.org/drawingml/2006/main" cx="11404664" cy="3914394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66800"/>
                <a:gridCol w="10337864"/>
              </a:tblGrid>
              <a:tr h="978599">
                <a:tc>
                  <a:txBody>
                    <a:bodyPr anchor="ctr"/>
                    <a:lstStyle/>
                    <a:p>
                      <a:pPr algn="ctr"/>
                      <a:r>
                        <a:rPr sz="1725" b="1">
                          <a:solidFill>
                            <a:srgbClr val="3D8D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01</a:t>
                      </a:r>
                    </a:p>
                  </a:txBody>
                  <a:tcPr marL="171450" marR="171450" marT="114300" marB="114300" anchor="ctr">
                    <a:solidFill>
                      <a:srgbClr val="EAF5FB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受控 Multi-Agent 协作</a:t>
                      </a:r>
                    </a:p>
                    <a:p>
                      <a:r>
                        <a:rPr sz="150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Supervisor / 并行 / Barrier / checkpoint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</a:tr>
              <a:tr h="978599">
                <a:tc>
                  <a:txBody>
                    <a:bodyPr anchor="ctr"/>
                    <a:lstStyle/>
                    <a:p>
                      <a:pPr algn="ctr"/>
                      <a:r>
                        <a:rPr sz="1725" b="1">
                          <a:solidFill>
                            <a:srgbClr val="3D8D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02</a:t>
                      </a:r>
                    </a:p>
                  </a:txBody>
                  <a:tcPr marL="171450" marR="171450" marT="114300" marB="114300" anchor="ctr">
                    <a:solidFill>
                      <a:srgbClr val="EAF5FB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混合 RAG 与约束检索</a:t>
                      </a:r>
                    </a:p>
                    <a:p>
                      <a:r>
                        <a:rPr sz="150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Dense + Sparse + Metadata / 重排 / 降级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</a:tr>
              <a:tr h="978599">
                <a:tc>
                  <a:txBody>
                    <a:bodyPr anchor="ctr"/>
                    <a:lstStyle/>
                    <a:p>
                      <a:pPr algn="ctr"/>
                      <a:r>
                        <a:rPr sz="1725" b="1">
                          <a:solidFill>
                            <a:srgbClr val="3D8D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03</a:t>
                      </a:r>
                    </a:p>
                  </a:txBody>
                  <a:tcPr marL="171450" marR="171450" marT="114300" marB="114300" anchor="ctr">
                    <a:solidFill>
                      <a:srgbClr val="EAF5FB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三层记忆与 HITL</a:t>
                      </a:r>
                    </a:p>
                    <a:p>
                      <a:r>
                        <a:rPr sz="150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本轮 / 会话 / 长期 Memory / 幂等写入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</a:tr>
              <a:tr h="978599">
                <a:tc>
                  <a:txBody>
                    <a:bodyPr anchor="ctr"/>
                    <a:lstStyle/>
                    <a:p>
                      <a:pPr algn="ctr"/>
                      <a:r>
                        <a:rPr sz="1725" b="1">
                          <a:solidFill>
                            <a:srgbClr val="3D8D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04</a:t>
                      </a:r>
                    </a:p>
                  </a:txBody>
                  <a:tcPr marL="171450" marR="171450" marT="114300" marB="114300" anchor="ctr">
                    <a:solidFill>
                      <a:srgbClr val="EAF5FB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确定性同款与比价</a:t>
                      </a:r>
                    </a:p>
                    <a:p>
                      <a:r>
                        <a:rPr sz="150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SPU 聚类 / SKU 拆分 / 价格与偏好排序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88997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A5991A6E-DD66-460E-813E-EF1094A95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D409FB0F-69EB-4425-81EB-625B3C8AA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Aft>
                <a:spcPts val="7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用户缺的不是“相似图”，而是可比对象</a:t>
            </a:r>
          </a:p>
        </p:txBody>
      </p:sp>
      <p:sp>
        <p:nvSpPr>
          <p:cNvPr id="3" name="Content-Placeholder-10-4">
            <a:extLst xmlns:a="http://schemas.openxmlformats.org/drawingml/2006/main">
              <a:ext uri="{FF2B5EF4-FFF2-40B4-BE49-F238E27FC236}">
                <a16:creationId xmlns:a16="http://schemas.microsoft.com/office/drawing/2014/main" id="{FC55938A-C60F-445F-90B5-0BB9CFC96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8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VLM 提取品类、品牌、型号与关键属性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028F60F3-AF6C-47CD-A117-CA12AE6A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23748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 / 识别</a:t>
            </a:r>
          </a:p>
        </p:txBody>
      </p:sp>
      <p:sp>
        <p:nvSpPr>
          <p:cNvPr id="5" name="Content-Placeholder-10-6">
            <a:extLst xmlns:a="http://schemas.openxmlformats.org/drawingml/2006/main">
              <a:ext uri="{FF2B5EF4-FFF2-40B4-BE49-F238E27FC236}">
                <a16:creationId xmlns:a16="http://schemas.microsoft.com/office/drawing/2014/main" id="{57ACE0E6-F5A2-45C6-BBF0-B837B31B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4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合并预算、平台、颜色等带来源的购物约束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9FC3A8F4-F8FA-4D97-BA24-EB056F019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33654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 / 约束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7011DF2E-28CE-4842-B9A5-93464C40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0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混合召回后做同款判定与 SKU 拆分</a:t>
            </a:r>
          </a:p>
        </p:txBody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A03E4FD4-1BA7-4715-888C-27F72DC7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43560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 / 检索</a:t>
            </a:r>
          </a:p>
        </p:txBody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B7AC9477-0B79-4B17-84F0-48C248F9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32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只在同一 SKU 内比价，并输出证据解释</a:t>
            </a:r>
          </a:p>
        </p:txBody>
      </p:sp>
      <p:sp>
        <p:nvSpPr>
          <p:cNvPr id="10" name="Content-Placeholder-10-11">
            <a:extLst xmlns:a="http://schemas.openxmlformats.org/drawingml/2006/main">
              <a:ext uri="{FF2B5EF4-FFF2-40B4-BE49-F238E27FC236}">
                <a16:creationId xmlns:a16="http://schemas.microsoft.com/office/drawing/2014/main" id="{CE821EF7-EFA0-4985-AAEA-8C7101AE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5359432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 / 决策</a:t>
            </a:r>
          </a:p>
        </p:txBody>
      </p:sp>
      <p:sp>
        <p:nvSpPr>
          <p:cNvPr id="11" name="Google-Shape-534-p58-12">
            <a:extLst xmlns:a="http://schemas.openxmlformats.org/drawingml/2006/main">
              <a:ext uri="{FF2B5EF4-FFF2-40B4-BE49-F238E27FC236}">
                <a16:creationId xmlns:a16="http://schemas.microsoft.com/office/drawing/2014/main" id="{76CA934B-7891-4A34-98B1-6293BCD5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374868"/>
            <a:ext cx="3568732" cy="361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11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为什么常规图搜不够？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10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用户只知道“我看到这个”，却缺少品牌、型号、规格与准确检索词。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rPr>
              <a:t>相似图 ≠ 同款商品。对象不确定，价格比较就没有意义。</a:t>
            </a:r>
          </a:p>
        </p:txBody>
      </p:sp>
    </p:spTree>
    <p:extLst>
      <p:ext uri="{BB962C8B-B14F-4D97-AF65-F5344CB8AC3E}">
        <p14:creationId xmlns:p14="http://schemas.microsoft.com/office/powerpoint/2010/main" val="4607683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2026-08-23T13:19:38.0250000Z</dcterms:created>
  <dcterms:modified xsi:type="dcterms:W3CDTF">2026-08-23T13:19:38.0260000Z</dcterms:modified>
</coreProperties>
</file>