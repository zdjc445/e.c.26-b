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0" y="1390650"/>
            <a:ext cx="914400" cy="914400"/>
          </a:xfrm>
          <a:prstGeom prst="rect">
            <a:avLst/>
          </a:prstGeom>
        </p:spPr>
      </p:pic>
      <p:sp>
        <p:nvSpPr>
          <p:cNvPr id="2" name="project-title"/>
          <p:cNvSpPr>
            <a:spLocks noGrp="1"/>
          </p:cNvSpPr>
          <p:nvPr/>
        </p:nvSpPr>
        <p:spPr>
          <a:xfrm>
            <a:off x="0" y="2590800"/>
            <a:ext cx="12192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700" b="1">
                <a:solidFill>
                  <a:srgbClr val="020618"/>
                </a:solidFill>
              </a:defRPr>
            </a:pPr>
            <a:r>
              <a:rPr sz="5700" b="1">
                <a:solidFill>
                  <a:srgbClr val="020618"/>
                </a:solidFill>
              </a:rPr>
              <a:t>识价镜</a:t>
            </a:r>
            <a:endParaRPr sz="5700" b="1">
              <a:solidFill>
                <a:srgbClr val="020618"/>
              </a:solidFill>
            </a:endParaRPr>
          </a:p>
        </p:txBody>
      </p:sp>
      <p:sp>
        <p:nvSpPr>
          <p:cNvPr id="3" name="project-subtitle"/>
          <p:cNvSpPr>
            <a:spLocks noGrp="1"/>
          </p:cNvSpPr>
          <p:nvPr/>
        </p:nvSpPr>
        <p:spPr>
          <a:xfrm>
            <a:off x="0" y="3676650"/>
            <a:ext cx="1219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314158"/>
                </a:solidFill>
              </a:defRPr>
            </a:pPr>
            <a:r>
              <a:rPr sz="2250" b="1">
                <a:solidFill>
                  <a:srgbClr val="314158"/>
                </a:solidFill>
              </a:rPr>
              <a:t>AI 智能比价购物助手</a:t>
            </a:r>
            <a:endParaRPr sz="2250" b="1">
              <a:solidFill>
                <a:srgbClr val="314158"/>
              </a:solidFill>
            </a:endParaRPr>
          </a:p>
        </p:txBody>
      </p:sp>
      <p:sp>
        <p:nvSpPr>
          <p:cNvPr id="4" name="author-line"/>
          <p:cNvSpPr>
            <a:spLocks noGrp="1"/>
          </p:cNvSpPr>
          <p:nvPr/>
        </p:nvSpPr>
        <p:spPr>
          <a:xfrm>
            <a:off x="0" y="5467350"/>
            <a:ext cx="1219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45556C"/>
                </a:solidFill>
              </a:defRPr>
            </a:pPr>
            <a:r>
              <a:rPr sz="1350" b="1">
                <a:solidFill>
                  <a:srgbClr val="45556C"/>
                </a:solidFill>
              </a:rPr>
              <a:t>张思成-南京大学-个人组队</a:t>
            </a:r>
            <a:endParaRPr sz="1350" b="1">
              <a:solidFill>
                <a:srgbClr val="45556C"/>
              </a:solidFill>
            </a:endParaRPr>
          </a:p>
        </p:txBody>
      </p:sp>
      <p:sp>
        <p:nvSpPr>
          <p:cNvPr id="5" name="date-line"/>
          <p:cNvSpPr>
            <a:spLocks noGrp="1"/>
          </p:cNvSpPr>
          <p:nvPr/>
        </p:nvSpPr>
        <p:spPr>
          <a:xfrm>
            <a:off x="0" y="5848350"/>
            <a:ext cx="1219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62748E"/>
                </a:solidFill>
              </a:defRPr>
            </a:pPr>
            <a:r>
              <a:rPr sz="1125">
                <a:solidFill>
                  <a:srgbClr val="62748E"/>
                </a:solidFill>
              </a:rPr>
              <a:t>2026年6月25日</a:t>
            </a:r>
            <a:endParaRPr sz="1125">
              <a:solidFill>
                <a:srgbClr val="62748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2-title"/>
          <p:cNvSpPr>
            <a:spLocks noGrp="1"/>
          </p:cNvSpPr>
          <p:nvPr/>
        </p:nvSpPr>
        <p:spPr>
          <a:xfrm>
            <a:off x="685800" y="514350"/>
            <a:ext cx="685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赛题背景与任务定义</a:t>
            </a:r>
            <a:endParaRPr sz="3150" b="1">
              <a:solidFill>
                <a:srgbClr val="020618"/>
              </a:solidFill>
            </a:endParaRPr>
          </a:p>
        </p:txBody>
      </p:sp>
      <p:sp>
        <p:nvSpPr>
          <p:cNvPr id="3" name="slide-2-number"/>
          <p:cNvSpPr>
            <a:spLocks noGrp="1"/>
          </p:cNvSpPr>
          <p:nvPr/>
        </p:nvSpPr>
        <p:spPr>
          <a:xfrm>
            <a:off x="10763250" y="59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02</a:t>
            </a:r>
            <a:endParaRPr sz="1050" b="1">
              <a:solidFill>
                <a:srgbClr val="90A1B9"/>
              </a:solidFill>
            </a:endParaRPr>
          </a:p>
        </p:txBody>
      </p:sp>
      <p:sp>
        <p:nvSpPr>
          <p:cNvPr id="4" name="official-source-frame"/>
          <p:cNvSpPr>
            <a:spLocks noGrp="1"/>
          </p:cNvSpPr>
          <p:nvPr/>
        </p:nvSpPr>
        <p:spPr>
          <a:xfrm>
            <a:off x="685800" y="1466850"/>
            <a:ext cx="4953000" cy="373380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64765"/>
            <a:ext cx="4724400" cy="3557019"/>
          </a:xfrm>
          <a:prstGeom prst="rect">
            <a:avLst/>
          </a:prstGeom>
        </p:spPr>
      </p:pic>
      <p:sp>
        <p:nvSpPr>
          <p:cNvPr id="5" name="task-definition-title"/>
          <p:cNvSpPr>
            <a:spLocks noGrp="1"/>
          </p:cNvSpPr>
          <p:nvPr/>
        </p:nvSpPr>
        <p:spPr>
          <a:xfrm>
            <a:off x="6191250" y="1200150"/>
            <a:ext cx="485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从赛题抽象出的任务</a:t>
            </a:r>
            <a:endParaRPr sz="2250" b="1">
              <a:solidFill>
                <a:srgbClr val="020618"/>
              </a:solidFill>
            </a:endParaRPr>
          </a:p>
        </p:txBody>
      </p:sp>
      <p:sp>
        <p:nvSpPr>
          <p:cNvPr id="6" name="task-definition-1-title"/>
          <p:cNvSpPr>
            <a:spLocks noGrp="1"/>
          </p:cNvSpPr>
          <p:nvPr/>
        </p:nvSpPr>
        <p:spPr>
          <a:xfrm>
            <a:off x="6191250" y="18669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9966"/>
                </a:solidFill>
              </a:defRPr>
            </a:pPr>
            <a:r>
              <a:rPr sz="1650" b="1">
                <a:solidFill>
                  <a:srgbClr val="009966"/>
                </a:solidFill>
              </a:rPr>
              <a:t>01  场景入口</a:t>
            </a:r>
            <a:endParaRPr sz="1650" b="1">
              <a:solidFill>
                <a:srgbClr val="009966"/>
              </a:solidFill>
            </a:endParaRPr>
          </a:p>
        </p:txBody>
      </p:sp>
      <p:sp>
        <p:nvSpPr>
          <p:cNvPr id="7" name="task-definition-1-body"/>
          <p:cNvSpPr>
            <a:spLocks noGrp="1"/>
          </p:cNvSpPr>
          <p:nvPr/>
        </p:nvSpPr>
        <p:spPr>
          <a:xfrm>
            <a:off x="6191250" y="2209800"/>
            <a:ext cx="485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用户看到商品，但缺少品牌、款式、型号等可检索线索。</a:t>
            </a:r>
            <a:endParaRPr sz="1350">
              <a:solidFill>
                <a:srgbClr val="45556C"/>
              </a:solidFill>
            </a:endParaRPr>
          </a:p>
        </p:txBody>
      </p:sp>
      <p:sp>
        <p:nvSpPr>
          <p:cNvPr id="8" name="task-definition-2-title"/>
          <p:cNvSpPr>
            <a:spLocks noGrp="1"/>
          </p:cNvSpPr>
          <p:nvPr/>
        </p:nvSpPr>
        <p:spPr>
          <a:xfrm>
            <a:off x="6191250" y="29527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9966"/>
                </a:solidFill>
              </a:defRPr>
            </a:pPr>
            <a:r>
              <a:rPr sz="1650" b="1">
                <a:solidFill>
                  <a:srgbClr val="009966"/>
                </a:solidFill>
              </a:rPr>
              <a:t>02  核心链路</a:t>
            </a:r>
            <a:endParaRPr sz="1650" b="1">
              <a:solidFill>
                <a:srgbClr val="009966"/>
              </a:solidFill>
            </a:endParaRPr>
          </a:p>
        </p:txBody>
      </p:sp>
      <p:sp>
        <p:nvSpPr>
          <p:cNvPr id="9" name="task-definition-2-body"/>
          <p:cNvSpPr>
            <a:spLocks noGrp="1"/>
          </p:cNvSpPr>
          <p:nvPr/>
        </p:nvSpPr>
        <p:spPr>
          <a:xfrm>
            <a:off x="6191250" y="3295650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一次拍摄后，完成商品识别、多平台检索、自然语言筛选和推荐收敛。</a:t>
            </a:r>
            <a:endParaRPr sz="1350">
              <a:solidFill>
                <a:srgbClr val="45556C"/>
              </a:solidFill>
            </a:endParaRPr>
          </a:p>
        </p:txBody>
      </p:sp>
      <p:sp>
        <p:nvSpPr>
          <p:cNvPr id="10" name="task-definition-3-title"/>
          <p:cNvSpPr>
            <a:spLocks noGrp="1"/>
          </p:cNvSpPr>
          <p:nvPr/>
        </p:nvSpPr>
        <p:spPr>
          <a:xfrm>
            <a:off x="6191250" y="41148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9966"/>
                </a:solidFill>
              </a:defRPr>
            </a:pPr>
            <a:r>
              <a:rPr sz="1650" b="1">
                <a:solidFill>
                  <a:srgbClr val="009966"/>
                </a:solidFill>
              </a:rPr>
              <a:t>03  技术重点</a:t>
            </a:r>
            <a:endParaRPr sz="1650" b="1">
              <a:solidFill>
                <a:srgbClr val="009966"/>
              </a:solidFill>
            </a:endParaRPr>
          </a:p>
        </p:txBody>
      </p:sp>
      <p:sp>
        <p:nvSpPr>
          <p:cNvPr id="11" name="task-definition-3-body"/>
          <p:cNvSpPr>
            <a:spLocks noGrp="1"/>
          </p:cNvSpPr>
          <p:nvPr/>
        </p:nvSpPr>
        <p:spPr>
          <a:xfrm>
            <a:off x="6191250" y="4457700"/>
            <a:ext cx="4857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用 VLM 解析图片中的非结构化信息，用 LLM 做意图理解与结构化输出。</a:t>
            </a:r>
            <a:endParaRPr sz="1350">
              <a:solidFill>
                <a:srgbClr val="45556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3-title"/>
          <p:cNvSpPr>
            <a:spLocks noGrp="1"/>
          </p:cNvSpPr>
          <p:nvPr/>
        </p:nvSpPr>
        <p:spPr>
          <a:xfrm>
            <a:off x="685800" y="495300"/>
            <a:ext cx="685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现有方案体验观察</a:t>
            </a:r>
            <a:endParaRPr sz="3150" b="1">
              <a:solidFill>
                <a:srgbClr val="020618"/>
              </a:solidFill>
            </a:endParaRPr>
          </a:p>
        </p:txBody>
      </p:sp>
      <p:sp>
        <p:nvSpPr>
          <p:cNvPr id="3" name="slide-3-number"/>
          <p:cNvSpPr>
            <a:spLocks noGrp="1"/>
          </p:cNvSpPr>
          <p:nvPr/>
        </p:nvSpPr>
        <p:spPr>
          <a:xfrm>
            <a:off x="10763250" y="59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03</a:t>
            </a:r>
            <a:endParaRPr sz="1050" b="1">
              <a:solidFill>
                <a:srgbClr val="90A1B9"/>
              </a:solidFill>
            </a:endParaRPr>
          </a:p>
        </p:txBody>
      </p:sp>
      <p:sp>
        <p:nvSpPr>
          <p:cNvPr id="4" name="manmanbuy-shot-label"/>
          <p:cNvSpPr>
            <a:spLocks noGrp="1"/>
          </p:cNvSpPr>
          <p:nvPr/>
        </p:nvSpPr>
        <p:spPr>
          <a:xfrm>
            <a:off x="685800" y="131445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9966"/>
                </a:solidFill>
              </a:defRPr>
            </a:pPr>
            <a:r>
              <a:rPr sz="1350" b="1">
                <a:solidFill>
                  <a:srgbClr val="009966"/>
                </a:solidFill>
              </a:rPr>
              <a:t>慢慢买</a:t>
            </a:r>
            <a:endParaRPr sz="1350" b="1">
              <a:solidFill>
                <a:srgbClr val="009966"/>
              </a:solidFill>
            </a:endParaRPr>
          </a:p>
        </p:txBody>
      </p:sp>
      <p:sp>
        <p:nvSpPr>
          <p:cNvPr id="5" name="manmanbuy-phone-frame"/>
          <p:cNvSpPr>
            <a:spLocks noGrp="1"/>
          </p:cNvSpPr>
          <p:nvPr/>
        </p:nvSpPr>
        <p:spPr>
          <a:xfrm>
            <a:off x="609600" y="1695450"/>
            <a:ext cx="2228850" cy="46291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64" y="1771650"/>
            <a:ext cx="2035522" cy="4476750"/>
          </a:xfrm>
          <a:prstGeom prst="rect">
            <a:avLst/>
          </a:prstGeom>
        </p:spPr>
      </p:pic>
      <p:sp>
        <p:nvSpPr>
          <p:cNvPr id="6" name="doubao-shot-label"/>
          <p:cNvSpPr>
            <a:spLocks noGrp="1"/>
          </p:cNvSpPr>
          <p:nvPr/>
        </p:nvSpPr>
        <p:spPr>
          <a:xfrm>
            <a:off x="3143250" y="131445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9966"/>
                </a:solidFill>
              </a:defRPr>
            </a:pPr>
            <a:r>
              <a:rPr sz="1350" b="1">
                <a:solidFill>
                  <a:srgbClr val="009966"/>
                </a:solidFill>
              </a:rPr>
              <a:t>豆包</a:t>
            </a:r>
            <a:endParaRPr sz="1350" b="1">
              <a:solidFill>
                <a:srgbClr val="009966"/>
              </a:solidFill>
            </a:endParaRPr>
          </a:p>
        </p:txBody>
      </p:sp>
      <p:sp>
        <p:nvSpPr>
          <p:cNvPr id="7" name="doubao-phone-frame"/>
          <p:cNvSpPr>
            <a:spLocks noGrp="1"/>
          </p:cNvSpPr>
          <p:nvPr/>
        </p:nvSpPr>
        <p:spPr>
          <a:xfrm>
            <a:off x="3067050" y="1695450"/>
            <a:ext cx="2228850" cy="46291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714" y="1771650"/>
            <a:ext cx="2035522" cy="4476750"/>
          </a:xfrm>
          <a:prstGeom prst="rect">
            <a:avLst/>
          </a:prstGeom>
        </p:spPr>
      </p:pic>
      <p:sp>
        <p:nvSpPr>
          <p:cNvPr id="9" name="manmanbuy-analysis-title"/>
          <p:cNvSpPr>
            <a:spLocks noGrp="1"/>
          </p:cNvSpPr>
          <p:nvPr/>
        </p:nvSpPr>
        <p:spPr>
          <a:xfrm>
            <a:off x="6096000" y="18097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慢慢买</a:t>
            </a:r>
            <a:endParaRPr sz="1800" b="1">
              <a:solidFill>
                <a:srgbClr val="020618"/>
              </a:solidFill>
            </a:endParaRPr>
          </a:p>
        </p:txBody>
      </p:sp>
      <p:sp>
        <p:nvSpPr>
          <p:cNvPr id="10" name="manmanbuy-analysis-body"/>
          <p:cNvSpPr>
            <a:spLocks noGrp="1"/>
          </p:cNvSpPr>
          <p:nvPr/>
        </p:nvSpPr>
        <p:spPr>
          <a:xfrm>
            <a:off x="6096000" y="2228850"/>
            <a:ext cx="5334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314158"/>
                </a:solidFill>
              </a:defRPr>
            </a:pPr>
            <a:r>
              <a:rPr sz="1650" b="1">
                <a:solidFill>
                  <a:srgbClr val="314158"/>
                </a:solidFill>
              </a:rPr>
              <a:t>优点在于价格、平台、历史低价集中；不足在于需要先搜准商品，再手动筛选。</a:t>
            </a:r>
            <a:endParaRPr sz="1650" b="1">
              <a:solidFill>
                <a:srgbClr val="314158"/>
              </a:solidFill>
            </a:endParaRPr>
          </a:p>
        </p:txBody>
      </p:sp>
      <p:sp>
        <p:nvSpPr>
          <p:cNvPr id="11" name="doubao-analysis-title"/>
          <p:cNvSpPr>
            <a:spLocks noGrp="1"/>
          </p:cNvSpPr>
          <p:nvPr/>
        </p:nvSpPr>
        <p:spPr>
          <a:xfrm>
            <a:off x="6096000" y="34480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豆包</a:t>
            </a:r>
            <a:endParaRPr sz="1800" b="1">
              <a:solidFill>
                <a:srgbClr val="020618"/>
              </a:solidFill>
            </a:endParaRPr>
          </a:p>
        </p:txBody>
      </p:sp>
      <p:sp>
        <p:nvSpPr>
          <p:cNvPr id="12" name="doubao-analysis-body"/>
          <p:cNvSpPr>
            <a:spLocks noGrp="1"/>
          </p:cNvSpPr>
          <p:nvPr/>
        </p:nvSpPr>
        <p:spPr>
          <a:xfrm>
            <a:off x="6096000" y="3867150"/>
            <a:ext cx="5334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314158"/>
                </a:solidFill>
              </a:defRPr>
            </a:pPr>
            <a:r>
              <a:rPr sz="1650" b="1">
                <a:solidFill>
                  <a:srgbClr val="314158"/>
                </a:solidFill>
              </a:rPr>
              <a:t>优点在于交流自然、推荐直接；不足在于价格依据和店铺可信度仍要核对。</a:t>
            </a:r>
            <a:endParaRPr sz="1650" b="1">
              <a:solidFill>
                <a:srgbClr val="31415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4-title"/>
          <p:cNvSpPr>
            <a:spLocks noGrp="1"/>
          </p:cNvSpPr>
          <p:nvPr/>
        </p:nvSpPr>
        <p:spPr>
          <a:xfrm>
            <a:off x="685800" y="5143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购买决策链路拆解</a:t>
            </a:r>
            <a:endParaRPr sz="3150" b="1">
              <a:solidFill>
                <a:srgbClr val="020618"/>
              </a:solidFill>
            </a:endParaRPr>
          </a:p>
        </p:txBody>
      </p:sp>
      <p:sp>
        <p:nvSpPr>
          <p:cNvPr id="3" name="slide-4-number"/>
          <p:cNvSpPr>
            <a:spLocks noGrp="1"/>
          </p:cNvSpPr>
          <p:nvPr/>
        </p:nvSpPr>
        <p:spPr>
          <a:xfrm>
            <a:off x="10763250" y="59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04</a:t>
            </a:r>
            <a:endParaRPr sz="1050" b="1">
              <a:solidFill>
                <a:srgbClr val="90A1B9"/>
              </a:solidFill>
            </a:endParaRPr>
          </a:p>
        </p:txBody>
      </p:sp>
      <p:sp>
        <p:nvSpPr>
          <p:cNvPr id="4" name="main-flow-label"/>
          <p:cNvSpPr>
            <a:spLocks noGrp="1"/>
          </p:cNvSpPr>
          <p:nvPr/>
        </p:nvSpPr>
        <p:spPr>
          <a:xfrm>
            <a:off x="0" y="2686050"/>
            <a:ext cx="1219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09966"/>
                </a:solidFill>
              </a:defRPr>
            </a:pPr>
            <a:r>
              <a:rPr sz="1500" b="1">
                <a:solidFill>
                  <a:srgbClr val="009966"/>
                </a:solidFill>
              </a:rPr>
              <a:t>主成功链路</a:t>
            </a:r>
            <a:endParaRPr sz="1500" b="1">
              <a:solidFill>
                <a:srgbClr val="009966"/>
              </a:solidFill>
            </a:endParaRPr>
          </a:p>
        </p:txBody>
      </p:sp>
      <p:sp>
        <p:nvSpPr>
          <p:cNvPr id="5" name="main-flow-step-1"/>
          <p:cNvSpPr>
            <a:spLocks noGrp="1"/>
          </p:cNvSpPr>
          <p:nvPr/>
        </p:nvSpPr>
        <p:spPr>
          <a:xfrm>
            <a:off x="914400" y="3162300"/>
            <a:ext cx="16573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main-flow-step-1-title"/>
          <p:cNvSpPr>
            <a:spLocks noGrp="1"/>
          </p:cNvSpPr>
          <p:nvPr/>
        </p:nvSpPr>
        <p:spPr>
          <a:xfrm>
            <a:off x="1028700" y="32861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看到想买</a:t>
            </a:r>
            <a:endParaRPr sz="1650" b="1">
              <a:solidFill>
                <a:srgbClr val="020618"/>
              </a:solidFill>
            </a:endParaRPr>
          </a:p>
        </p:txBody>
      </p:sp>
      <p:sp>
        <p:nvSpPr>
          <p:cNvPr id="7" name="main-flow-step-1-body"/>
          <p:cNvSpPr>
            <a:spLocks noGrp="1"/>
          </p:cNvSpPr>
          <p:nvPr/>
        </p:nvSpPr>
        <p:spPr>
          <a:xfrm>
            <a:off x="1028700" y="360997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产生购买意愿</a:t>
            </a:r>
            <a:endParaRPr sz="1200">
              <a:solidFill>
                <a:srgbClr val="62748E"/>
              </a:solidFill>
            </a:endParaRPr>
          </a:p>
        </p:txBody>
      </p:sp>
      <p:sp>
        <p:nvSpPr>
          <p:cNvPr id="8" name="main-flow-step-2"/>
          <p:cNvSpPr>
            <a:spLocks noGrp="1"/>
          </p:cNvSpPr>
          <p:nvPr/>
        </p:nvSpPr>
        <p:spPr>
          <a:xfrm>
            <a:off x="2990850" y="3162300"/>
            <a:ext cx="16573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main-flow-step-2-title"/>
          <p:cNvSpPr>
            <a:spLocks noGrp="1"/>
          </p:cNvSpPr>
          <p:nvPr/>
        </p:nvSpPr>
        <p:spPr>
          <a:xfrm>
            <a:off x="3105150" y="32861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拍照识别</a:t>
            </a:r>
            <a:endParaRPr sz="1650" b="1">
              <a:solidFill>
                <a:srgbClr val="020618"/>
              </a:solidFill>
            </a:endParaRPr>
          </a:p>
        </p:txBody>
      </p:sp>
      <p:sp>
        <p:nvSpPr>
          <p:cNvPr id="10" name="main-flow-step-2-body"/>
          <p:cNvSpPr>
            <a:spLocks noGrp="1"/>
          </p:cNvSpPr>
          <p:nvPr/>
        </p:nvSpPr>
        <p:spPr>
          <a:xfrm>
            <a:off x="3105150" y="360997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明确商品属性</a:t>
            </a:r>
            <a:endParaRPr sz="1200">
              <a:solidFill>
                <a:srgbClr val="62748E"/>
              </a:solidFill>
            </a:endParaRPr>
          </a:p>
        </p:txBody>
      </p:sp>
      <p:sp>
        <p:nvSpPr>
          <p:cNvPr id="11" name="main-flow-step-3"/>
          <p:cNvSpPr>
            <a:spLocks noGrp="1"/>
          </p:cNvSpPr>
          <p:nvPr/>
        </p:nvSpPr>
        <p:spPr>
          <a:xfrm>
            <a:off x="5067300" y="3162300"/>
            <a:ext cx="16573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main-flow-step-3-title"/>
          <p:cNvSpPr>
            <a:spLocks noGrp="1"/>
          </p:cNvSpPr>
          <p:nvPr/>
        </p:nvSpPr>
        <p:spPr>
          <a:xfrm>
            <a:off x="5181600" y="32861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跨平台检索</a:t>
            </a:r>
            <a:endParaRPr sz="1650" b="1">
              <a:solidFill>
                <a:srgbClr val="020618"/>
              </a:solidFill>
            </a:endParaRPr>
          </a:p>
        </p:txBody>
      </p:sp>
      <p:sp>
        <p:nvSpPr>
          <p:cNvPr id="13" name="main-flow-step-3-body"/>
          <p:cNvSpPr>
            <a:spLocks noGrp="1"/>
          </p:cNvSpPr>
          <p:nvPr/>
        </p:nvSpPr>
        <p:spPr>
          <a:xfrm>
            <a:off x="5181600" y="360997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汇总可比较结果</a:t>
            </a:r>
            <a:endParaRPr sz="1200">
              <a:solidFill>
                <a:srgbClr val="62748E"/>
              </a:solidFill>
            </a:endParaRPr>
          </a:p>
        </p:txBody>
      </p:sp>
      <p:sp>
        <p:nvSpPr>
          <p:cNvPr id="14" name="main-flow-step-4"/>
          <p:cNvSpPr>
            <a:spLocks noGrp="1"/>
          </p:cNvSpPr>
          <p:nvPr/>
        </p:nvSpPr>
        <p:spPr>
          <a:xfrm>
            <a:off x="7143750" y="3162300"/>
            <a:ext cx="16573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main-flow-step-4-title"/>
          <p:cNvSpPr>
            <a:spLocks noGrp="1"/>
          </p:cNvSpPr>
          <p:nvPr/>
        </p:nvSpPr>
        <p:spPr>
          <a:xfrm>
            <a:off x="7258050" y="32861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比价筛选</a:t>
            </a:r>
            <a:endParaRPr sz="1650" b="1">
              <a:solidFill>
                <a:srgbClr val="020618"/>
              </a:solidFill>
            </a:endParaRPr>
          </a:p>
        </p:txBody>
      </p:sp>
      <p:sp>
        <p:nvSpPr>
          <p:cNvPr id="16" name="main-flow-step-4-body"/>
          <p:cNvSpPr>
            <a:spLocks noGrp="1"/>
          </p:cNvSpPr>
          <p:nvPr/>
        </p:nvSpPr>
        <p:spPr>
          <a:xfrm>
            <a:off x="7258050" y="360997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比较价格与服务</a:t>
            </a:r>
            <a:endParaRPr sz="1200">
              <a:solidFill>
                <a:srgbClr val="62748E"/>
              </a:solidFill>
            </a:endParaRPr>
          </a:p>
        </p:txBody>
      </p:sp>
      <p:sp>
        <p:nvSpPr>
          <p:cNvPr id="17" name="main-flow-step-5"/>
          <p:cNvSpPr>
            <a:spLocks noGrp="1"/>
          </p:cNvSpPr>
          <p:nvPr/>
        </p:nvSpPr>
        <p:spPr>
          <a:xfrm>
            <a:off x="9220200" y="3162300"/>
            <a:ext cx="16573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main-flow-step-5-title"/>
          <p:cNvSpPr>
            <a:spLocks noGrp="1"/>
          </p:cNvSpPr>
          <p:nvPr/>
        </p:nvSpPr>
        <p:spPr>
          <a:xfrm>
            <a:off x="9334500" y="32861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购买判断</a:t>
            </a:r>
            <a:endParaRPr sz="1650" b="1">
              <a:solidFill>
                <a:srgbClr val="020618"/>
              </a:solidFill>
            </a:endParaRPr>
          </a:p>
        </p:txBody>
      </p:sp>
      <p:sp>
        <p:nvSpPr>
          <p:cNvPr id="19" name="main-flow-step-5-body"/>
          <p:cNvSpPr>
            <a:spLocks noGrp="1"/>
          </p:cNvSpPr>
          <p:nvPr/>
        </p:nvSpPr>
        <p:spPr>
          <a:xfrm>
            <a:off x="9334500" y="360997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2748E"/>
                </a:solidFill>
              </a:defRPr>
            </a:pPr>
            <a:r>
              <a:rPr sz="1200">
                <a:solidFill>
                  <a:srgbClr val="62748E"/>
                </a:solidFill>
              </a:rPr>
              <a:t>形成最终选择</a:t>
            </a:r>
            <a:endParaRPr sz="1200">
              <a:solidFill>
                <a:srgbClr val="62748E"/>
              </a:solidFill>
            </a:endParaRPr>
          </a:p>
        </p:txBody>
      </p:sp>
      <p:sp>
        <p:nvSpPr>
          <p:cNvPr id="20" name="branch-card-1"/>
          <p:cNvSpPr>
            <a:spLocks noGrp="1"/>
          </p:cNvSpPr>
          <p:nvPr/>
        </p:nvSpPr>
        <p:spPr>
          <a:xfrm>
            <a:off x="2266950" y="158115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branch-card-1-title"/>
          <p:cNvSpPr>
            <a:spLocks noGrp="1"/>
          </p:cNvSpPr>
          <p:nvPr/>
        </p:nvSpPr>
        <p:spPr>
          <a:xfrm>
            <a:off x="2495550" y="1752600"/>
            <a:ext cx="1866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09966"/>
                </a:solidFill>
              </a:defRPr>
            </a:pPr>
            <a:r>
              <a:rPr sz="1425" b="1">
                <a:solidFill>
                  <a:srgbClr val="009966"/>
                </a:solidFill>
              </a:rPr>
              <a:t>识别断点</a:t>
            </a:r>
            <a:endParaRPr sz="1425" b="1">
              <a:solidFill>
                <a:srgbClr val="009966"/>
              </a:solidFill>
            </a:endParaRPr>
          </a:p>
        </p:txBody>
      </p:sp>
      <p:sp>
        <p:nvSpPr>
          <p:cNvPr id="22" name="branch-card-1-body"/>
          <p:cNvSpPr>
            <a:spLocks noGrp="1"/>
          </p:cNvSpPr>
          <p:nvPr/>
        </p:nvSpPr>
        <p:spPr>
          <a:xfrm>
            <a:off x="2495550" y="2057400"/>
            <a:ext cx="1866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品牌 / 款式 / 型号缺失</a:t>
            </a:r>
            <a:endParaRPr sz="1125">
              <a:solidFill>
                <a:srgbClr val="45556C"/>
              </a:solidFill>
            </a:endParaRPr>
          </a:p>
          <a:p>
            <a:pPr algn="ctr"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难以生成稳定关键词</a:t>
            </a:r>
            <a:endParaRPr sz="1125">
              <a:solidFill>
                <a:srgbClr val="45556C"/>
              </a:solidFill>
            </a:endParaRPr>
          </a:p>
        </p:txBody>
      </p:sp>
      <p:sp>
        <p:nvSpPr>
          <p:cNvPr id="23" name="branch-card-2"/>
          <p:cNvSpPr>
            <a:spLocks noGrp="1"/>
          </p:cNvSpPr>
          <p:nvPr/>
        </p:nvSpPr>
        <p:spPr>
          <a:xfrm>
            <a:off x="5067300" y="455295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branch-card-2-title"/>
          <p:cNvSpPr>
            <a:spLocks noGrp="1"/>
          </p:cNvSpPr>
          <p:nvPr/>
        </p:nvSpPr>
        <p:spPr>
          <a:xfrm>
            <a:off x="5295900" y="4724400"/>
            <a:ext cx="1866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09966"/>
                </a:solidFill>
              </a:defRPr>
            </a:pPr>
            <a:r>
              <a:rPr sz="1425" b="1">
                <a:solidFill>
                  <a:srgbClr val="009966"/>
                </a:solidFill>
              </a:rPr>
              <a:t>检索断点</a:t>
            </a:r>
            <a:endParaRPr sz="1425" b="1">
              <a:solidFill>
                <a:srgbClr val="009966"/>
              </a:solidFill>
            </a:endParaRPr>
          </a:p>
        </p:txBody>
      </p:sp>
      <p:sp>
        <p:nvSpPr>
          <p:cNvPr id="25" name="branch-card-2-body"/>
          <p:cNvSpPr>
            <a:spLocks noGrp="1"/>
          </p:cNvSpPr>
          <p:nvPr/>
        </p:nvSpPr>
        <p:spPr>
          <a:xfrm>
            <a:off x="5295900" y="5029200"/>
            <a:ext cx="1866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相似结果过多</a:t>
            </a:r>
            <a:endParaRPr sz="1125">
              <a:solidFill>
                <a:srgbClr val="45556C"/>
              </a:solidFill>
            </a:endParaRPr>
          </a:p>
          <a:p>
            <a:pPr algn="ctr"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需要反复排除</a:t>
            </a:r>
            <a:endParaRPr sz="1125">
              <a:solidFill>
                <a:srgbClr val="45556C"/>
              </a:solidFill>
            </a:endParaRPr>
          </a:p>
        </p:txBody>
      </p:sp>
      <p:sp>
        <p:nvSpPr>
          <p:cNvPr id="26" name="branch-card-3"/>
          <p:cNvSpPr>
            <a:spLocks noGrp="1"/>
          </p:cNvSpPr>
          <p:nvPr/>
        </p:nvSpPr>
        <p:spPr>
          <a:xfrm>
            <a:off x="7219950" y="158115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branch-card-3-title"/>
          <p:cNvSpPr>
            <a:spLocks noGrp="1"/>
          </p:cNvSpPr>
          <p:nvPr/>
        </p:nvSpPr>
        <p:spPr>
          <a:xfrm>
            <a:off x="7448550" y="1752600"/>
            <a:ext cx="1866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09966"/>
                </a:solidFill>
              </a:defRPr>
            </a:pPr>
            <a:r>
              <a:rPr sz="1425" b="1">
                <a:solidFill>
                  <a:srgbClr val="009966"/>
                </a:solidFill>
              </a:rPr>
              <a:t>决策断点</a:t>
            </a:r>
            <a:endParaRPr sz="1425" b="1">
              <a:solidFill>
                <a:srgbClr val="009966"/>
              </a:solidFill>
            </a:endParaRPr>
          </a:p>
        </p:txBody>
      </p:sp>
      <p:sp>
        <p:nvSpPr>
          <p:cNvPr id="28" name="branch-card-3-body"/>
          <p:cNvSpPr>
            <a:spLocks noGrp="1"/>
          </p:cNvSpPr>
          <p:nvPr/>
        </p:nvSpPr>
        <p:spPr>
          <a:xfrm>
            <a:off x="7448550" y="2057400"/>
            <a:ext cx="1866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价格 / 平台 / 趋势分散</a:t>
            </a:r>
            <a:endParaRPr sz="1125">
              <a:solidFill>
                <a:srgbClr val="45556C"/>
              </a:solidFill>
            </a:endParaRPr>
          </a:p>
          <a:p>
            <a:pPr algn="ctr"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需要二次核验</a:t>
            </a:r>
            <a:endParaRPr sz="1125">
              <a:solidFill>
                <a:srgbClr val="45556C"/>
              </a:solidFill>
            </a:endParaRPr>
          </a:p>
        </p:txBody>
      </p:sp>
      <p:cxnSp>
        <p:nvCxnSpPr>
          <p:cNvPr id="62" name="直接箭头连接符 61"/>
          <p:cNvCxnSpPr>
            <a:stCxn id="4" idx="3"/>
            <a:endCxn id="7" idx="1"/>
          </p:cNvCxnSpPr>
          <p:nvPr/>
        </p:nvCxnSpPr>
        <p:spPr>
          <a:xfrm>
            <a:off x="2571750" y="3514725"/>
            <a:ext cx="419100" cy="0"/>
          </a:xfrm>
          <a:prstGeom prst="straightConnector1">
            <a:avLst/>
          </a:prstGeom>
          <a:ln w="19050" cap="rnd">
            <a:solidFill>
              <a:srgbClr val="00D492"/>
            </a:solidFill>
            <a:prstDash val="solid"/>
            <a:tailEnd type="arrow" w="sm" len="sm"/>
          </a:ln>
        </p:spPr>
      </p:cxnSp>
      <p:cxnSp>
        <p:nvCxnSpPr>
          <p:cNvPr id="63" name="直接箭头连接符 62"/>
          <p:cNvCxnSpPr>
            <a:stCxn id="7" idx="3"/>
            <a:endCxn id="10" idx="1"/>
          </p:cNvCxnSpPr>
          <p:nvPr/>
        </p:nvCxnSpPr>
        <p:spPr>
          <a:xfrm>
            <a:off x="4648200" y="3514725"/>
            <a:ext cx="419100" cy="0"/>
          </a:xfrm>
          <a:prstGeom prst="straightConnector1">
            <a:avLst/>
          </a:prstGeom>
          <a:ln w="19050" cap="rnd">
            <a:solidFill>
              <a:srgbClr val="00D492"/>
            </a:solidFill>
            <a:prstDash val="solid"/>
            <a:tailEnd type="arrow" w="sm" len="sm"/>
          </a:ln>
        </p:spPr>
      </p:cxnSp>
      <p:cxnSp>
        <p:nvCxnSpPr>
          <p:cNvPr id="64" name="直接箭头连接符 63"/>
          <p:cNvCxnSpPr>
            <a:stCxn id="10" idx="3"/>
            <a:endCxn id="13" idx="1"/>
          </p:cNvCxnSpPr>
          <p:nvPr/>
        </p:nvCxnSpPr>
        <p:spPr>
          <a:xfrm>
            <a:off x="6724650" y="3514725"/>
            <a:ext cx="419100" cy="0"/>
          </a:xfrm>
          <a:prstGeom prst="straightConnector1">
            <a:avLst/>
          </a:prstGeom>
          <a:ln w="19050" cap="rnd">
            <a:solidFill>
              <a:srgbClr val="00D492"/>
            </a:solidFill>
            <a:prstDash val="solid"/>
            <a:tailEnd type="arrow" w="sm" len="sm"/>
          </a:ln>
        </p:spPr>
      </p:cxnSp>
      <p:cxnSp>
        <p:nvCxnSpPr>
          <p:cNvPr id="65" name="直接箭头连接符 64"/>
          <p:cNvCxnSpPr>
            <a:stCxn id="13" idx="3"/>
            <a:endCxn id="16" idx="1"/>
          </p:cNvCxnSpPr>
          <p:nvPr/>
        </p:nvCxnSpPr>
        <p:spPr>
          <a:xfrm>
            <a:off x="8801100" y="3514725"/>
            <a:ext cx="419100" cy="0"/>
          </a:xfrm>
          <a:prstGeom prst="straightConnector1">
            <a:avLst/>
          </a:prstGeom>
          <a:ln w="19050" cap="rnd">
            <a:solidFill>
              <a:srgbClr val="00D492"/>
            </a:solidFill>
            <a:prstDash val="solid"/>
            <a:tailEnd type="arrow" w="sm" len="sm"/>
          </a:ln>
        </p:spPr>
      </p:cxnSp>
      <p:cxnSp>
        <p:nvCxnSpPr>
          <p:cNvPr id="66" name="曲线连接符 65"/>
          <p:cNvCxnSpPr>
            <a:stCxn id="7" idx="0"/>
            <a:endCxn id="19" idx="2"/>
          </p:cNvCxnSpPr>
          <p:nvPr/>
        </p:nvCxnSpPr>
        <p:spPr>
          <a:xfrm rot="16200000" flipH="1">
            <a:off x="3271838" y="2614613"/>
            <a:ext cx="704850" cy="390525"/>
          </a:xfrm>
          <a:prstGeom prst="curvedConnector3">
            <a:avLst>
              <a:gd name="adj1" fmla="val 50000"/>
            </a:avLst>
          </a:prstGeom>
          <a:ln w="19050" cap="rnd">
            <a:solidFill>
              <a:srgbClr val="CAD5E2"/>
            </a:solidFill>
            <a:prstDash val="dash"/>
            <a:round/>
          </a:ln>
        </p:spPr>
      </p:cxnSp>
      <p:cxnSp>
        <p:nvCxnSpPr>
          <p:cNvPr id="67" name="曲线连接符 66"/>
          <p:cNvCxnSpPr>
            <a:stCxn id="10" idx="2"/>
            <a:endCxn id="22" idx="0"/>
          </p:cNvCxnSpPr>
          <p:nvPr/>
        </p:nvCxnSpPr>
        <p:spPr>
          <a:xfrm rot="16200000" flipH="1">
            <a:off x="5719763" y="4043363"/>
            <a:ext cx="685800" cy="333375"/>
          </a:xfrm>
          <a:prstGeom prst="curvedConnector3">
            <a:avLst>
              <a:gd name="adj1" fmla="val 50000"/>
            </a:avLst>
          </a:prstGeom>
          <a:ln w="19050" cap="rnd">
            <a:solidFill>
              <a:srgbClr val="CAD5E2"/>
            </a:solidFill>
            <a:prstDash val="dash"/>
            <a:round/>
          </a:ln>
        </p:spPr>
      </p:cxnSp>
      <p:cxnSp>
        <p:nvCxnSpPr>
          <p:cNvPr id="68" name="曲线连接符 67"/>
          <p:cNvCxnSpPr>
            <a:stCxn id="13" idx="0"/>
            <a:endCxn id="25" idx="2"/>
          </p:cNvCxnSpPr>
          <p:nvPr/>
        </p:nvCxnSpPr>
        <p:spPr>
          <a:xfrm rot="5400000">
            <a:off x="7824788" y="2605088"/>
            <a:ext cx="704850" cy="409575"/>
          </a:xfrm>
          <a:prstGeom prst="curvedConnector3">
            <a:avLst>
              <a:gd name="adj1" fmla="val 50000"/>
            </a:avLst>
          </a:prstGeom>
          <a:ln w="19050" cap="rnd">
            <a:solidFill>
              <a:srgbClr val="CAD5E2"/>
            </a:solidFill>
            <a:prstDash val="dash"/>
            <a:round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5-title"/>
          <p:cNvSpPr>
            <a:spLocks noGrp="1"/>
          </p:cNvSpPr>
          <p:nvPr/>
        </p:nvSpPr>
        <p:spPr>
          <a:xfrm>
            <a:off x="685800" y="5143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识别层技术架构</a:t>
            </a:r>
            <a:endParaRPr sz="3150" b="1">
              <a:solidFill>
                <a:srgbClr val="020618"/>
              </a:solidFill>
            </a:endParaRPr>
          </a:p>
        </p:txBody>
      </p:sp>
      <p:sp>
        <p:nvSpPr>
          <p:cNvPr id="3" name="slide-5-number"/>
          <p:cNvSpPr>
            <a:spLocks noGrp="1"/>
          </p:cNvSpPr>
          <p:nvPr/>
        </p:nvSpPr>
        <p:spPr>
          <a:xfrm>
            <a:off x="10763250" y="59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05</a:t>
            </a:r>
            <a:endParaRPr sz="1050" b="1">
              <a:solidFill>
                <a:srgbClr val="90A1B9"/>
              </a:solidFill>
            </a:endParaRPr>
          </a:p>
        </p:txBody>
      </p:sp>
      <p:sp>
        <p:nvSpPr>
          <p:cNvPr id="4" name="slide-5-pill-box"/>
          <p:cNvSpPr>
            <a:spLocks noGrp="1"/>
          </p:cNvSpPr>
          <p:nvPr/>
        </p:nvSpPr>
        <p:spPr>
          <a:xfrm>
            <a:off x="685800" y="1295400"/>
            <a:ext cx="1295400" cy="323850"/>
          </a:xfrm>
          <a:prstGeom prst="roundRect">
            <a:avLst>
              <a:gd name="adj" fmla="val 35294"/>
            </a:avLst>
          </a:prstGeom>
          <a:solidFill>
            <a:srgbClr val="ECFDF5"/>
          </a:solidFill>
          <a:ln w="9525">
            <a:solidFill>
              <a:srgbClr val="D0FAE5"/>
            </a:solidFill>
            <a:prstDash val="solid"/>
          </a:ln>
        </p:spPr>
      </p:sp>
      <p:sp>
        <p:nvSpPr>
          <p:cNvPr id="5" name="slide-5-pill-text"/>
          <p:cNvSpPr>
            <a:spLocks noGrp="1"/>
          </p:cNvSpPr>
          <p:nvPr/>
        </p:nvSpPr>
        <p:spPr>
          <a:xfrm>
            <a:off x="781050" y="1362075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7A55"/>
                </a:solidFill>
              </a:defRPr>
            </a:pPr>
            <a:r>
              <a:rPr sz="1125" b="1">
                <a:solidFill>
                  <a:srgbClr val="007A55"/>
                </a:solidFill>
              </a:rPr>
              <a:t>识别技术</a:t>
            </a:r>
            <a:endParaRPr sz="1125" b="1">
              <a:solidFill>
                <a:srgbClr val="007A55"/>
              </a:solidFill>
            </a:endParaRPr>
          </a:p>
        </p:txBody>
      </p:sp>
      <p:sp>
        <p:nvSpPr>
          <p:cNvPr id="6" name="slide-5-flow-panel"/>
          <p:cNvSpPr>
            <a:spLocks noGrp="1"/>
          </p:cNvSpPr>
          <p:nvPr/>
        </p:nvSpPr>
        <p:spPr>
          <a:xfrm>
            <a:off x="685800" y="1885950"/>
            <a:ext cx="108204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lide-5-flow-0"/>
          <p:cNvSpPr>
            <a:spLocks noGrp="1"/>
          </p:cNvSpPr>
          <p:nvPr/>
        </p:nvSpPr>
        <p:spPr>
          <a:xfrm>
            <a:off x="990600" y="2190750"/>
            <a:ext cx="1771650" cy="66675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lide-5-flow-0-title"/>
          <p:cNvSpPr>
            <a:spLocks noGrp="1"/>
          </p:cNvSpPr>
          <p:nvPr/>
        </p:nvSpPr>
        <p:spPr>
          <a:xfrm>
            <a:off x="1104900" y="234315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App 拍照上传</a:t>
            </a:r>
            <a:endParaRPr sz="1350" b="1">
              <a:solidFill>
                <a:srgbClr val="020618"/>
              </a:solidFill>
            </a:endParaRPr>
          </a:p>
        </p:txBody>
      </p:sp>
      <p:sp>
        <p:nvSpPr>
          <p:cNvPr id="9" name="slide-5-flow-0-body"/>
          <p:cNvSpPr>
            <a:spLocks noGrp="1"/>
          </p:cNvSpPr>
          <p:nvPr/>
        </p:nvSpPr>
        <p:spPr>
          <a:xfrm>
            <a:off x="1104900" y="26098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/api/images/upload</a:t>
            </a:r>
            <a:endParaRPr sz="975">
              <a:solidFill>
                <a:srgbClr val="62748E"/>
              </a:solidFill>
            </a:endParaRPr>
          </a:p>
        </p:txBody>
      </p:sp>
      <p:sp>
        <p:nvSpPr>
          <p:cNvPr id="10" name="slide-5-flow-0-arrow"/>
          <p:cNvSpPr>
            <a:spLocks noGrp="1"/>
          </p:cNvSpPr>
          <p:nvPr/>
        </p:nvSpPr>
        <p:spPr>
          <a:xfrm>
            <a:off x="2838450" y="238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11" name="slide-5-flow-1"/>
          <p:cNvSpPr>
            <a:spLocks noGrp="1"/>
          </p:cNvSpPr>
          <p:nvPr/>
        </p:nvSpPr>
        <p:spPr>
          <a:xfrm>
            <a:off x="3371850" y="2190750"/>
            <a:ext cx="1771650" cy="66675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lide-5-flow-1-title"/>
          <p:cNvSpPr>
            <a:spLocks noGrp="1"/>
          </p:cNvSpPr>
          <p:nvPr/>
        </p:nvSpPr>
        <p:spPr>
          <a:xfrm>
            <a:off x="3486150" y="234315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读取图片内容</a:t>
            </a:r>
            <a:endParaRPr sz="1350" b="1">
              <a:solidFill>
                <a:srgbClr val="020618"/>
              </a:solidFill>
            </a:endParaRPr>
          </a:p>
        </p:txBody>
      </p:sp>
      <p:sp>
        <p:nvSpPr>
          <p:cNvPr id="13" name="slide-5-flow-1-body"/>
          <p:cNvSpPr>
            <a:spLocks noGrp="1"/>
          </p:cNvSpPr>
          <p:nvPr/>
        </p:nvSpPr>
        <p:spPr>
          <a:xfrm>
            <a:off x="3486150" y="26098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ImageStore + ImagePayload</a:t>
            </a:r>
            <a:endParaRPr sz="975">
              <a:solidFill>
                <a:srgbClr val="62748E"/>
              </a:solidFill>
            </a:endParaRPr>
          </a:p>
        </p:txBody>
      </p:sp>
      <p:sp>
        <p:nvSpPr>
          <p:cNvPr id="14" name="slide-5-flow-1-arrow"/>
          <p:cNvSpPr>
            <a:spLocks noGrp="1"/>
          </p:cNvSpPr>
          <p:nvPr/>
        </p:nvSpPr>
        <p:spPr>
          <a:xfrm>
            <a:off x="5219700" y="238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15" name="slide-5-flow-2"/>
          <p:cNvSpPr>
            <a:spLocks noGrp="1"/>
          </p:cNvSpPr>
          <p:nvPr/>
        </p:nvSpPr>
        <p:spPr>
          <a:xfrm>
            <a:off x="5753100" y="2190750"/>
            <a:ext cx="1771650" cy="66675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lide-5-flow-2-title"/>
          <p:cNvSpPr>
            <a:spLocks noGrp="1"/>
          </p:cNvSpPr>
          <p:nvPr/>
        </p:nvSpPr>
        <p:spPr>
          <a:xfrm>
            <a:off x="5867400" y="234315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Ark 识物</a:t>
            </a:r>
            <a:endParaRPr sz="1350" b="1">
              <a:solidFill>
                <a:srgbClr val="020618"/>
              </a:solidFill>
            </a:endParaRPr>
          </a:p>
        </p:txBody>
      </p:sp>
      <p:sp>
        <p:nvSpPr>
          <p:cNvPr id="17" name="slide-5-flow-2-body"/>
          <p:cNvSpPr>
            <a:spLocks noGrp="1"/>
          </p:cNvSpPr>
          <p:nvPr/>
        </p:nvSpPr>
        <p:spPr>
          <a:xfrm>
            <a:off x="5867400" y="26098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ArkRecognitionProvider</a:t>
            </a:r>
            <a:endParaRPr sz="975">
              <a:solidFill>
                <a:srgbClr val="62748E"/>
              </a:solidFill>
            </a:endParaRPr>
          </a:p>
        </p:txBody>
      </p:sp>
      <p:sp>
        <p:nvSpPr>
          <p:cNvPr id="18" name="slide-5-flow-2-arrow"/>
          <p:cNvSpPr>
            <a:spLocks noGrp="1"/>
          </p:cNvSpPr>
          <p:nvPr/>
        </p:nvSpPr>
        <p:spPr>
          <a:xfrm>
            <a:off x="7600950" y="23812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19" name="slide-5-flow-3"/>
          <p:cNvSpPr>
            <a:spLocks noGrp="1"/>
          </p:cNvSpPr>
          <p:nvPr/>
        </p:nvSpPr>
        <p:spPr>
          <a:xfrm>
            <a:off x="8134350" y="2190750"/>
            <a:ext cx="1771650" cy="66675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lide-5-flow-3-title"/>
          <p:cNvSpPr>
            <a:spLocks noGrp="1"/>
          </p:cNvSpPr>
          <p:nvPr/>
        </p:nvSpPr>
        <p:spPr>
          <a:xfrm>
            <a:off x="8248650" y="234315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保存/修正</a:t>
            </a:r>
            <a:endParaRPr sz="1350" b="1">
              <a:solidFill>
                <a:srgbClr val="020618"/>
              </a:solidFill>
            </a:endParaRPr>
          </a:p>
        </p:txBody>
      </p:sp>
      <p:sp>
        <p:nvSpPr>
          <p:cNvPr id="21" name="slide-5-flow-3-body"/>
          <p:cNvSpPr>
            <a:spLocks noGrp="1"/>
          </p:cNvSpPr>
          <p:nvPr/>
        </p:nvSpPr>
        <p:spPr>
          <a:xfrm>
            <a:off x="8248650" y="26098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RecognitionStore</a:t>
            </a:r>
            <a:endParaRPr sz="975">
              <a:solidFill>
                <a:srgbClr val="62748E"/>
              </a:solidFill>
            </a:endParaRPr>
          </a:p>
        </p:txBody>
      </p:sp>
      <p:sp>
        <p:nvSpPr>
          <p:cNvPr id="22" name="slide-5-tech-0-card"/>
          <p:cNvSpPr>
            <a:spLocks noGrp="1"/>
          </p:cNvSpPr>
          <p:nvPr/>
        </p:nvSpPr>
        <p:spPr>
          <a:xfrm>
            <a:off x="685800" y="3676650"/>
            <a:ext cx="33147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lide-5-tech-0-title"/>
          <p:cNvSpPr>
            <a:spLocks noGrp="1"/>
          </p:cNvSpPr>
          <p:nvPr/>
        </p:nvSpPr>
        <p:spPr>
          <a:xfrm>
            <a:off x="914400" y="3905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9966"/>
                </a:solidFill>
              </a:defRPr>
            </a:pPr>
            <a:r>
              <a:rPr sz="1650" b="1">
                <a:solidFill>
                  <a:srgbClr val="009966"/>
                </a:solidFill>
              </a:rPr>
              <a:t>接口入口清楚</a:t>
            </a:r>
            <a:endParaRPr sz="1650" b="1">
              <a:solidFill>
                <a:srgbClr val="009966"/>
              </a:solidFill>
            </a:endParaRPr>
          </a:p>
        </p:txBody>
      </p:sp>
      <p:sp>
        <p:nvSpPr>
          <p:cNvPr id="24" name="slide-5-tech-0-body"/>
          <p:cNvSpPr>
            <a:spLocks noGrp="1"/>
          </p:cNvSpPr>
          <p:nvPr/>
        </p:nvSpPr>
        <p:spPr>
          <a:xfrm>
            <a:off x="914400" y="43053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图片先上传拿到 imageId，再由 /api/recognition 或聊天消息触发识别。</a:t>
            </a:r>
            <a:endParaRPr sz="1275">
              <a:solidFill>
                <a:srgbClr val="45556C"/>
              </a:solidFill>
            </a:endParaRPr>
          </a:p>
        </p:txBody>
      </p:sp>
      <p:sp>
        <p:nvSpPr>
          <p:cNvPr id="25" name="slide-5-tech-1-card"/>
          <p:cNvSpPr>
            <a:spLocks noGrp="1"/>
          </p:cNvSpPr>
          <p:nvPr/>
        </p:nvSpPr>
        <p:spPr>
          <a:xfrm>
            <a:off x="4438650" y="3676650"/>
            <a:ext cx="33147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lide-5-tech-1-title"/>
          <p:cNvSpPr>
            <a:spLocks noGrp="1"/>
          </p:cNvSpPr>
          <p:nvPr/>
        </p:nvSpPr>
        <p:spPr>
          <a:xfrm>
            <a:off x="4667250" y="3905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9966"/>
                </a:solidFill>
              </a:defRPr>
            </a:pPr>
            <a:r>
              <a:rPr sz="1650" b="1">
                <a:solidFill>
                  <a:srgbClr val="009966"/>
                </a:solidFill>
              </a:rPr>
              <a:t>模型输出可落地</a:t>
            </a:r>
            <a:endParaRPr sz="1650" b="1">
              <a:solidFill>
                <a:srgbClr val="009966"/>
              </a:solidFill>
            </a:endParaRPr>
          </a:p>
        </p:txBody>
      </p:sp>
      <p:sp>
        <p:nvSpPr>
          <p:cNvPr id="27" name="slide-5-tech-1-body"/>
          <p:cNvSpPr>
            <a:spLocks noGrp="1"/>
          </p:cNvSpPr>
          <p:nvPr/>
        </p:nvSpPr>
        <p:spPr>
          <a:xfrm>
            <a:off x="4667250" y="43053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识别结果存入 RecognitionStore，后续聊天链路可以继续使用。</a:t>
            </a:r>
            <a:endParaRPr sz="1275">
              <a:solidFill>
                <a:srgbClr val="45556C"/>
              </a:solidFill>
            </a:endParaRPr>
          </a:p>
        </p:txBody>
      </p:sp>
      <p:sp>
        <p:nvSpPr>
          <p:cNvPr id="28" name="slide-5-tech-2-card"/>
          <p:cNvSpPr>
            <a:spLocks noGrp="1"/>
          </p:cNvSpPr>
          <p:nvPr/>
        </p:nvSpPr>
        <p:spPr>
          <a:xfrm>
            <a:off x="8191500" y="3676650"/>
            <a:ext cx="33147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lide-5-tech-2-title"/>
          <p:cNvSpPr>
            <a:spLocks noGrp="1"/>
          </p:cNvSpPr>
          <p:nvPr/>
        </p:nvSpPr>
        <p:spPr>
          <a:xfrm>
            <a:off x="8420100" y="3905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9966"/>
                </a:solidFill>
              </a:defRPr>
            </a:pPr>
            <a:r>
              <a:rPr sz="1650" b="1">
                <a:solidFill>
                  <a:srgbClr val="009966"/>
                </a:solidFill>
              </a:rPr>
              <a:t>结构化输出</a:t>
            </a:r>
            <a:endParaRPr sz="1650" b="1">
              <a:solidFill>
                <a:srgbClr val="009966"/>
              </a:solidFill>
            </a:endParaRPr>
          </a:p>
        </p:txBody>
      </p:sp>
      <p:sp>
        <p:nvSpPr>
          <p:cNvPr id="30" name="slide-5-tech-2-body"/>
          <p:cNvSpPr>
            <a:spLocks noGrp="1"/>
          </p:cNvSpPr>
          <p:nvPr/>
        </p:nvSpPr>
        <p:spPr>
          <a:xfrm>
            <a:off x="8420100" y="43053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输出品类、品牌、型号、属性和置信度，供后续检索沿用。</a:t>
            </a:r>
            <a:endParaRPr sz="1275">
              <a:solidFill>
                <a:srgbClr val="45556C"/>
              </a:solidFill>
            </a:endParaRPr>
          </a:p>
        </p:txBody>
      </p:sp>
      <p:sp>
        <p:nvSpPr>
          <p:cNvPr id="31" name="slide-5-bottom"/>
          <p:cNvSpPr>
            <a:spLocks noGrp="1"/>
          </p:cNvSpPr>
          <p:nvPr/>
        </p:nvSpPr>
        <p:spPr>
          <a:xfrm>
            <a:off x="1352550" y="5429250"/>
            <a:ext cx="9486900" cy="457200"/>
          </a:xfrm>
          <a:prstGeom prst="roundRect">
            <a:avLst>
              <a:gd name="adj" fmla="val 25000"/>
            </a:avLst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32" name="slide-5-bottom-text"/>
          <p:cNvSpPr>
            <a:spLocks noGrp="1"/>
          </p:cNvSpPr>
          <p:nvPr/>
        </p:nvSpPr>
        <p:spPr>
          <a:xfrm>
            <a:off x="1676400" y="5562600"/>
            <a:ext cx="8839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识别层的价值：把用户拍到的商品，变成后续检索能沿用的上下文。</a:t>
            </a:r>
            <a:endParaRPr sz="127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6-title"/>
          <p:cNvSpPr>
            <a:spLocks noGrp="1"/>
          </p:cNvSpPr>
          <p:nvPr/>
        </p:nvSpPr>
        <p:spPr>
          <a:xfrm>
            <a:off x="685800" y="5143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识别层运行截图</a:t>
            </a:r>
            <a:endParaRPr sz="3150" b="1">
              <a:solidFill>
                <a:srgbClr val="020618"/>
              </a:solidFill>
            </a:endParaRPr>
          </a:p>
        </p:txBody>
      </p:sp>
      <p:sp>
        <p:nvSpPr>
          <p:cNvPr id="3" name="slide-6-number"/>
          <p:cNvSpPr>
            <a:spLocks noGrp="1"/>
          </p:cNvSpPr>
          <p:nvPr/>
        </p:nvSpPr>
        <p:spPr>
          <a:xfrm>
            <a:off x="10763250" y="59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06</a:t>
            </a:r>
            <a:endParaRPr sz="1050" b="1">
              <a:solidFill>
                <a:srgbClr val="90A1B9"/>
              </a:solidFill>
            </a:endParaRPr>
          </a:p>
        </p:txBody>
      </p:sp>
      <p:sp>
        <p:nvSpPr>
          <p:cNvPr id="4" name="slide-6-shot-1-label"/>
          <p:cNvSpPr>
            <a:spLocks noGrp="1"/>
          </p:cNvSpPr>
          <p:nvPr/>
        </p:nvSpPr>
        <p:spPr>
          <a:xfrm>
            <a:off x="1504950" y="12573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14158"/>
                </a:solidFill>
              </a:defRPr>
            </a:pPr>
            <a:r>
              <a:rPr sz="1275" b="1">
                <a:solidFill>
                  <a:srgbClr val="314158"/>
                </a:solidFill>
              </a:rPr>
              <a:t>识别结果卡片</a:t>
            </a:r>
            <a:endParaRPr sz="1275" b="1">
              <a:solidFill>
                <a:srgbClr val="314158"/>
              </a:solidFill>
            </a:endParaRPr>
          </a:p>
        </p:txBody>
      </p:sp>
      <p:sp>
        <p:nvSpPr>
          <p:cNvPr id="5" name="slide-6-shot-1-frame"/>
          <p:cNvSpPr>
            <a:spLocks noGrp="1"/>
          </p:cNvSpPr>
          <p:nvPr/>
        </p:nvSpPr>
        <p:spPr>
          <a:xfrm>
            <a:off x="1504950" y="1504950"/>
            <a:ext cx="476250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2089" y="1600200"/>
            <a:ext cx="3908223" cy="4572000"/>
          </a:xfrm>
          <a:prstGeom prst="rect">
            <a:avLst/>
          </a:prstGeom>
        </p:spPr>
      </p:pic>
      <p:sp>
        <p:nvSpPr>
          <p:cNvPr id="6" name="slide-6-shot-1-caption"/>
          <p:cNvSpPr>
            <a:spLocks noGrp="1"/>
          </p:cNvSpPr>
          <p:nvPr/>
        </p:nvSpPr>
        <p:spPr>
          <a:xfrm>
            <a:off x="1504950" y="63436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卡片展示品类、置信度、品牌和型号。</a:t>
            </a:r>
            <a:endParaRPr sz="1125">
              <a:solidFill>
                <a:srgbClr val="45556C"/>
              </a:solidFill>
            </a:endParaRPr>
          </a:p>
        </p:txBody>
      </p:sp>
      <p:sp>
        <p:nvSpPr>
          <p:cNvPr id="7" name="slide-6-shot-2-label"/>
          <p:cNvSpPr>
            <a:spLocks noGrp="1"/>
          </p:cNvSpPr>
          <p:nvPr/>
        </p:nvSpPr>
        <p:spPr>
          <a:xfrm>
            <a:off x="6991350" y="125730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14158"/>
                </a:solidFill>
              </a:defRPr>
            </a:pPr>
            <a:r>
              <a:rPr sz="1275" b="1">
                <a:solidFill>
                  <a:srgbClr val="314158"/>
                </a:solidFill>
              </a:rPr>
              <a:t>识别结果详情页</a:t>
            </a:r>
            <a:endParaRPr sz="1275" b="1">
              <a:solidFill>
                <a:srgbClr val="314158"/>
              </a:solidFill>
            </a:endParaRPr>
          </a:p>
        </p:txBody>
      </p:sp>
      <p:sp>
        <p:nvSpPr>
          <p:cNvPr id="8" name="slide-6-shot-2-frame"/>
          <p:cNvSpPr>
            <a:spLocks noGrp="1"/>
          </p:cNvSpPr>
          <p:nvPr/>
        </p:nvSpPr>
        <p:spPr>
          <a:xfrm>
            <a:off x="6991350" y="1504950"/>
            <a:ext cx="2952750" cy="47625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397" y="1600200"/>
            <a:ext cx="2202656" cy="4572000"/>
          </a:xfrm>
          <a:prstGeom prst="rect">
            <a:avLst/>
          </a:prstGeom>
        </p:spPr>
      </p:pic>
      <p:sp>
        <p:nvSpPr>
          <p:cNvPr id="10" name="slide-6-shot-2-caption"/>
          <p:cNvSpPr>
            <a:spLocks noGrp="1"/>
          </p:cNvSpPr>
          <p:nvPr/>
        </p:nvSpPr>
        <p:spPr>
          <a:xfrm>
            <a:off x="6991350" y="63436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详情页支持查看和修正识别结果。</a:t>
            </a:r>
            <a:endParaRPr sz="1125">
              <a:solidFill>
                <a:srgbClr val="45556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7-title"/>
          <p:cNvSpPr>
            <a:spLocks noGrp="1"/>
          </p:cNvSpPr>
          <p:nvPr/>
        </p:nvSpPr>
        <p:spPr>
          <a:xfrm>
            <a:off x="685800" y="5143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检索层技术架构</a:t>
            </a:r>
            <a:endParaRPr sz="3150" b="1">
              <a:solidFill>
                <a:srgbClr val="020618"/>
              </a:solidFill>
            </a:endParaRPr>
          </a:p>
        </p:txBody>
      </p:sp>
      <p:sp>
        <p:nvSpPr>
          <p:cNvPr id="3" name="slide-7-number"/>
          <p:cNvSpPr>
            <a:spLocks noGrp="1"/>
          </p:cNvSpPr>
          <p:nvPr/>
        </p:nvSpPr>
        <p:spPr>
          <a:xfrm>
            <a:off x="10763250" y="59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07</a:t>
            </a:r>
            <a:endParaRPr sz="1050" b="1">
              <a:solidFill>
                <a:srgbClr val="90A1B9"/>
              </a:solidFill>
            </a:endParaRPr>
          </a:p>
        </p:txBody>
      </p:sp>
      <p:sp>
        <p:nvSpPr>
          <p:cNvPr id="4" name="slide-7-pill-box"/>
          <p:cNvSpPr>
            <a:spLocks noGrp="1"/>
          </p:cNvSpPr>
          <p:nvPr/>
        </p:nvSpPr>
        <p:spPr>
          <a:xfrm>
            <a:off x="685800" y="1504950"/>
            <a:ext cx="1295400" cy="323850"/>
          </a:xfrm>
          <a:prstGeom prst="roundRect">
            <a:avLst>
              <a:gd name="adj" fmla="val 35294"/>
            </a:avLst>
          </a:prstGeom>
          <a:solidFill>
            <a:srgbClr val="ECFDF5"/>
          </a:solidFill>
          <a:ln w="9525">
            <a:solidFill>
              <a:srgbClr val="D0FAE5"/>
            </a:solidFill>
            <a:prstDash val="solid"/>
          </a:ln>
        </p:spPr>
      </p:sp>
      <p:sp>
        <p:nvSpPr>
          <p:cNvPr id="5" name="slide-7-pill-text"/>
          <p:cNvSpPr>
            <a:spLocks noGrp="1"/>
          </p:cNvSpPr>
          <p:nvPr/>
        </p:nvSpPr>
        <p:spPr>
          <a:xfrm>
            <a:off x="781050" y="1571625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7A55"/>
                </a:solidFill>
              </a:defRPr>
            </a:pPr>
            <a:r>
              <a:rPr sz="1125" b="1">
                <a:solidFill>
                  <a:srgbClr val="007A55"/>
                </a:solidFill>
              </a:rPr>
              <a:t>检索技术</a:t>
            </a:r>
            <a:endParaRPr sz="1125" b="1">
              <a:solidFill>
                <a:srgbClr val="007A55"/>
              </a:solidFill>
            </a:endParaRPr>
          </a:p>
        </p:txBody>
      </p:sp>
      <p:sp>
        <p:nvSpPr>
          <p:cNvPr id="6" name="slide-7-flow-panel"/>
          <p:cNvSpPr>
            <a:spLocks noGrp="1"/>
          </p:cNvSpPr>
          <p:nvPr/>
        </p:nvSpPr>
        <p:spPr>
          <a:xfrm>
            <a:off x="685800" y="2057400"/>
            <a:ext cx="108204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lide-7-flow-0"/>
          <p:cNvSpPr>
            <a:spLocks noGrp="1"/>
          </p:cNvSpPr>
          <p:nvPr/>
        </p:nvSpPr>
        <p:spPr>
          <a:xfrm>
            <a:off x="990600" y="2362200"/>
            <a:ext cx="1771650" cy="66675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lide-7-flow-0-title"/>
          <p:cNvSpPr>
            <a:spLocks noGrp="1"/>
          </p:cNvSpPr>
          <p:nvPr/>
        </p:nvSpPr>
        <p:spPr>
          <a:xfrm>
            <a:off x="1104900" y="25146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识别/历史上下文</a:t>
            </a:r>
            <a:endParaRPr sz="1350" b="1">
              <a:solidFill>
                <a:srgbClr val="020618"/>
              </a:solidFill>
            </a:endParaRPr>
          </a:p>
        </p:txBody>
      </p:sp>
      <p:sp>
        <p:nvSpPr>
          <p:cNvPr id="9" name="slide-7-flow-0-body"/>
          <p:cNvSpPr>
            <a:spLocks noGrp="1"/>
          </p:cNvSpPr>
          <p:nvPr/>
        </p:nvSpPr>
        <p:spPr>
          <a:xfrm>
            <a:off x="1104900" y="278130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mergeContext</a:t>
            </a:r>
            <a:endParaRPr sz="975">
              <a:solidFill>
                <a:srgbClr val="62748E"/>
              </a:solidFill>
            </a:endParaRPr>
          </a:p>
        </p:txBody>
      </p:sp>
      <p:sp>
        <p:nvSpPr>
          <p:cNvPr id="10" name="slide-7-flow-0-arrow"/>
          <p:cNvSpPr>
            <a:spLocks noGrp="1"/>
          </p:cNvSpPr>
          <p:nvPr/>
        </p:nvSpPr>
        <p:spPr>
          <a:xfrm>
            <a:off x="2838450" y="25527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11" name="slide-7-flow-1"/>
          <p:cNvSpPr>
            <a:spLocks noGrp="1"/>
          </p:cNvSpPr>
          <p:nvPr/>
        </p:nvSpPr>
        <p:spPr>
          <a:xfrm>
            <a:off x="3371850" y="2362200"/>
            <a:ext cx="1771650" cy="66675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lide-7-flow-1-title"/>
          <p:cNvSpPr>
            <a:spLocks noGrp="1"/>
          </p:cNvSpPr>
          <p:nvPr/>
        </p:nvSpPr>
        <p:spPr>
          <a:xfrm>
            <a:off x="3486150" y="25146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解析筛选条件</a:t>
            </a:r>
            <a:endParaRPr sz="1350" b="1">
              <a:solidFill>
                <a:srgbClr val="020618"/>
              </a:solidFill>
            </a:endParaRPr>
          </a:p>
        </p:txBody>
      </p:sp>
      <p:sp>
        <p:nvSpPr>
          <p:cNvPr id="13" name="slide-7-flow-1-body"/>
          <p:cNvSpPr>
            <a:spLocks noGrp="1"/>
          </p:cNvSpPr>
          <p:nvPr/>
        </p:nvSpPr>
        <p:spPr>
          <a:xfrm>
            <a:off x="3486150" y="278130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UserPreferenceParser</a:t>
            </a:r>
            <a:endParaRPr sz="975">
              <a:solidFill>
                <a:srgbClr val="62748E"/>
              </a:solidFill>
            </a:endParaRPr>
          </a:p>
        </p:txBody>
      </p:sp>
      <p:sp>
        <p:nvSpPr>
          <p:cNvPr id="14" name="slide-7-flow-1-arrow"/>
          <p:cNvSpPr>
            <a:spLocks noGrp="1"/>
          </p:cNvSpPr>
          <p:nvPr/>
        </p:nvSpPr>
        <p:spPr>
          <a:xfrm>
            <a:off x="5219700" y="25527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15" name="slide-7-flow-2"/>
          <p:cNvSpPr>
            <a:spLocks noGrp="1"/>
          </p:cNvSpPr>
          <p:nvPr/>
        </p:nvSpPr>
        <p:spPr>
          <a:xfrm>
            <a:off x="5753100" y="2362200"/>
            <a:ext cx="1771650" cy="66675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lide-7-flow-2-title"/>
          <p:cNvSpPr>
            <a:spLocks noGrp="1"/>
          </p:cNvSpPr>
          <p:nvPr/>
        </p:nvSpPr>
        <p:spPr>
          <a:xfrm>
            <a:off x="5867400" y="25146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构造查询</a:t>
            </a:r>
            <a:endParaRPr sz="1350" b="1">
              <a:solidFill>
                <a:srgbClr val="020618"/>
              </a:solidFill>
            </a:endParaRPr>
          </a:p>
        </p:txBody>
      </p:sp>
      <p:sp>
        <p:nvSpPr>
          <p:cNvPr id="17" name="slide-7-flow-2-body"/>
          <p:cNvSpPr>
            <a:spLocks noGrp="1"/>
          </p:cNvSpPr>
          <p:nvPr/>
        </p:nvSpPr>
        <p:spPr>
          <a:xfrm>
            <a:off x="5867400" y="278130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ProductSearchQuery</a:t>
            </a:r>
            <a:endParaRPr sz="975">
              <a:solidFill>
                <a:srgbClr val="62748E"/>
              </a:solidFill>
            </a:endParaRPr>
          </a:p>
        </p:txBody>
      </p:sp>
      <p:sp>
        <p:nvSpPr>
          <p:cNvPr id="18" name="slide-7-flow-2-arrow"/>
          <p:cNvSpPr>
            <a:spLocks noGrp="1"/>
          </p:cNvSpPr>
          <p:nvPr/>
        </p:nvSpPr>
        <p:spPr>
          <a:xfrm>
            <a:off x="7600950" y="255270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19" name="slide-7-flow-3"/>
          <p:cNvSpPr>
            <a:spLocks noGrp="1"/>
          </p:cNvSpPr>
          <p:nvPr/>
        </p:nvSpPr>
        <p:spPr>
          <a:xfrm>
            <a:off x="8134350" y="2362200"/>
            <a:ext cx="1771650" cy="66675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lide-7-flow-3-title"/>
          <p:cNvSpPr>
            <a:spLocks noGrp="1"/>
          </p:cNvSpPr>
          <p:nvPr/>
        </p:nvSpPr>
        <p:spPr>
          <a:xfrm>
            <a:off x="8248650" y="25146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组织结果</a:t>
            </a:r>
            <a:endParaRPr sz="1350" b="1">
              <a:solidFill>
                <a:srgbClr val="020618"/>
              </a:solidFill>
            </a:endParaRPr>
          </a:p>
        </p:txBody>
      </p:sp>
      <p:sp>
        <p:nvSpPr>
          <p:cNvPr id="21" name="slide-7-flow-3-body"/>
          <p:cNvSpPr>
            <a:spLocks noGrp="1"/>
          </p:cNvSpPr>
          <p:nvPr/>
        </p:nvSpPr>
        <p:spPr>
          <a:xfrm>
            <a:off x="8248650" y="278130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ProductGroup</a:t>
            </a:r>
            <a:endParaRPr sz="975">
              <a:solidFill>
                <a:srgbClr val="62748E"/>
              </a:solidFill>
            </a:endParaRPr>
          </a:p>
        </p:txBody>
      </p:sp>
      <p:sp>
        <p:nvSpPr>
          <p:cNvPr id="22" name="slide-7-tech-0-card"/>
          <p:cNvSpPr>
            <a:spLocks noGrp="1"/>
          </p:cNvSpPr>
          <p:nvPr/>
        </p:nvSpPr>
        <p:spPr>
          <a:xfrm>
            <a:off x="685800" y="3943350"/>
            <a:ext cx="33147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lide-7-tech-0-title"/>
          <p:cNvSpPr>
            <a:spLocks noGrp="1"/>
          </p:cNvSpPr>
          <p:nvPr/>
        </p:nvSpPr>
        <p:spPr>
          <a:xfrm>
            <a:off x="914400" y="4171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92B8"/>
                </a:solidFill>
              </a:defRPr>
            </a:pPr>
            <a:r>
              <a:rPr sz="1650" b="1">
                <a:solidFill>
                  <a:srgbClr val="0092B8"/>
                </a:solidFill>
              </a:rPr>
              <a:t>上下文继承</a:t>
            </a:r>
            <a:endParaRPr sz="1650" b="1">
              <a:solidFill>
                <a:srgbClr val="0092B8"/>
              </a:solidFill>
            </a:endParaRPr>
          </a:p>
        </p:txBody>
      </p:sp>
      <p:sp>
        <p:nvSpPr>
          <p:cNvPr id="24" name="slide-7-tech-0-body"/>
          <p:cNvSpPr>
            <a:spLocks noGrp="1"/>
          </p:cNvSpPr>
          <p:nvPr/>
        </p:nvSpPr>
        <p:spPr>
          <a:xfrm>
            <a:off x="914400" y="45720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当前文本、历史文本、识别品类会合并，避免每次重新开始。</a:t>
            </a:r>
            <a:endParaRPr sz="1275">
              <a:solidFill>
                <a:srgbClr val="45556C"/>
              </a:solidFill>
            </a:endParaRPr>
          </a:p>
        </p:txBody>
      </p:sp>
      <p:sp>
        <p:nvSpPr>
          <p:cNvPr id="25" name="slide-7-tech-1-card"/>
          <p:cNvSpPr>
            <a:spLocks noGrp="1"/>
          </p:cNvSpPr>
          <p:nvPr/>
        </p:nvSpPr>
        <p:spPr>
          <a:xfrm>
            <a:off x="4438650" y="3943350"/>
            <a:ext cx="33147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lide-7-tech-1-title"/>
          <p:cNvSpPr>
            <a:spLocks noGrp="1"/>
          </p:cNvSpPr>
          <p:nvPr/>
        </p:nvSpPr>
        <p:spPr>
          <a:xfrm>
            <a:off x="4667250" y="4171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92B8"/>
                </a:solidFill>
              </a:defRPr>
            </a:pPr>
            <a:r>
              <a:rPr sz="1650" b="1">
                <a:solidFill>
                  <a:srgbClr val="0092B8"/>
                </a:solidFill>
              </a:rPr>
              <a:t>商品源检索</a:t>
            </a:r>
            <a:endParaRPr sz="1650" b="1">
              <a:solidFill>
                <a:srgbClr val="0092B8"/>
              </a:solidFill>
            </a:endParaRPr>
          </a:p>
        </p:txBody>
      </p:sp>
      <p:sp>
        <p:nvSpPr>
          <p:cNvPr id="27" name="slide-7-tech-1-body"/>
          <p:cNvSpPr>
            <a:spLocks noGrp="1"/>
          </p:cNvSpPr>
          <p:nvPr/>
        </p:nvSpPr>
        <p:spPr>
          <a:xfrm>
            <a:off x="4667250" y="45720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商品源按品类、预算、颜色、品牌、平台过滤。</a:t>
            </a:r>
            <a:endParaRPr sz="1275">
              <a:solidFill>
                <a:srgbClr val="45556C"/>
              </a:solidFill>
            </a:endParaRPr>
          </a:p>
        </p:txBody>
      </p:sp>
      <p:sp>
        <p:nvSpPr>
          <p:cNvPr id="28" name="slide-7-tech-2-card"/>
          <p:cNvSpPr>
            <a:spLocks noGrp="1"/>
          </p:cNvSpPr>
          <p:nvPr/>
        </p:nvSpPr>
        <p:spPr>
          <a:xfrm>
            <a:off x="8191500" y="3943350"/>
            <a:ext cx="33147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lide-7-tech-2-title"/>
          <p:cNvSpPr>
            <a:spLocks noGrp="1"/>
          </p:cNvSpPr>
          <p:nvPr/>
        </p:nvSpPr>
        <p:spPr>
          <a:xfrm>
            <a:off x="8420100" y="4171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092B8"/>
                </a:solidFill>
              </a:defRPr>
            </a:pPr>
            <a:r>
              <a:rPr sz="1650" b="1">
                <a:solidFill>
                  <a:srgbClr val="0092B8"/>
                </a:solidFill>
              </a:rPr>
              <a:t>同款组织</a:t>
            </a:r>
            <a:endParaRPr sz="1650" b="1">
              <a:solidFill>
                <a:srgbClr val="0092B8"/>
              </a:solidFill>
            </a:endParaRPr>
          </a:p>
        </p:txBody>
      </p:sp>
      <p:sp>
        <p:nvSpPr>
          <p:cNvPr id="30" name="slide-7-tech-2-body"/>
          <p:cNvSpPr>
            <a:spLocks noGrp="1"/>
          </p:cNvSpPr>
          <p:nvPr/>
        </p:nvSpPr>
        <p:spPr>
          <a:xfrm>
            <a:off x="8420100" y="45720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四个平台报价汇总成商品组。</a:t>
            </a:r>
            <a:endParaRPr sz="1275">
              <a:solidFill>
                <a:srgbClr val="45556C"/>
              </a:solidFill>
            </a:endParaRPr>
          </a:p>
        </p:txBody>
      </p:sp>
      <p:sp>
        <p:nvSpPr>
          <p:cNvPr id="31" name="slide-7-bottom"/>
          <p:cNvSpPr>
            <a:spLocks noGrp="1"/>
          </p:cNvSpPr>
          <p:nvPr/>
        </p:nvSpPr>
        <p:spPr>
          <a:xfrm>
            <a:off x="1352550" y="5619750"/>
            <a:ext cx="9486900" cy="457200"/>
          </a:xfrm>
          <a:prstGeom prst="roundRect">
            <a:avLst>
              <a:gd name="adj" fmla="val 25000"/>
            </a:avLst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32" name="slide-7-bottom-text"/>
          <p:cNvSpPr>
            <a:spLocks noGrp="1"/>
          </p:cNvSpPr>
          <p:nvPr/>
        </p:nvSpPr>
        <p:spPr>
          <a:xfrm>
            <a:off x="1676400" y="5753100"/>
            <a:ext cx="8839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检索层的价值：把分散条件收束成可比较结果，而不是只做关键词搜索。</a:t>
            </a:r>
            <a:endParaRPr sz="127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8-title"/>
          <p:cNvSpPr>
            <a:spLocks noGrp="1"/>
          </p:cNvSpPr>
          <p:nvPr/>
        </p:nvSpPr>
        <p:spPr>
          <a:xfrm>
            <a:off x="685800" y="5143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检索层运行截图</a:t>
            </a:r>
            <a:endParaRPr sz="3150" b="1">
              <a:solidFill>
                <a:srgbClr val="020618"/>
              </a:solidFill>
            </a:endParaRPr>
          </a:p>
        </p:txBody>
      </p:sp>
      <p:sp>
        <p:nvSpPr>
          <p:cNvPr id="3" name="slide-8-number"/>
          <p:cNvSpPr>
            <a:spLocks noGrp="1"/>
          </p:cNvSpPr>
          <p:nvPr/>
        </p:nvSpPr>
        <p:spPr>
          <a:xfrm>
            <a:off x="10763250" y="59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08</a:t>
            </a:r>
            <a:endParaRPr sz="1050" b="1">
              <a:solidFill>
                <a:srgbClr val="90A1B9"/>
              </a:solidFill>
            </a:endParaRPr>
          </a:p>
        </p:txBody>
      </p:sp>
      <p:sp>
        <p:nvSpPr>
          <p:cNvPr id="4" name="slide-8-shot-frame"/>
          <p:cNvSpPr>
            <a:spLocks noGrp="1"/>
          </p:cNvSpPr>
          <p:nvPr/>
        </p:nvSpPr>
        <p:spPr>
          <a:xfrm>
            <a:off x="4333875" y="1428750"/>
            <a:ext cx="3524250" cy="493395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2671" b="2671"/>
          <a:stretch>
            <a:fillRect/>
          </a:stretch>
        </p:blipFill>
        <p:spPr>
          <a:xfrm>
            <a:off x="4429125" y="1524000"/>
            <a:ext cx="3333750" cy="4743450"/>
          </a:xfrm>
          <a:prstGeom prst="roundRect">
            <a:avLst>
              <a:gd name="adj" fmla="val 2286"/>
            </a:avLst>
          </a:prstGeom>
        </p:spPr>
      </p:pic>
      <p:sp>
        <p:nvSpPr>
          <p:cNvPr id="5" name="slide-8-shot-label"/>
          <p:cNvSpPr>
            <a:spLocks noGrp="1"/>
          </p:cNvSpPr>
          <p:nvPr/>
        </p:nvSpPr>
        <p:spPr>
          <a:xfrm>
            <a:off x="4333875" y="11811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14158"/>
                </a:solidFill>
              </a:defRPr>
            </a:pPr>
            <a:r>
              <a:rPr sz="1275" b="1">
                <a:solidFill>
                  <a:srgbClr val="314158"/>
                </a:solidFill>
              </a:rPr>
              <a:t>检索结果卡片</a:t>
            </a:r>
            <a:endParaRPr sz="1275" b="1">
              <a:solidFill>
                <a:srgbClr val="314158"/>
              </a:solidFill>
            </a:endParaRPr>
          </a:p>
        </p:txBody>
      </p:sp>
      <p:sp>
        <p:nvSpPr>
          <p:cNvPr id="6" name="slide-8-shot-caption"/>
          <p:cNvSpPr>
            <a:spLocks noGrp="1"/>
          </p:cNvSpPr>
          <p:nvPr/>
        </p:nvSpPr>
        <p:spPr>
          <a:xfrm>
            <a:off x="4162425" y="6419850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结果页显示本轮筛选、商品组、最低价和多平台报价。</a:t>
            </a:r>
            <a:endParaRPr sz="1125">
              <a:solidFill>
                <a:srgbClr val="45556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9-title"/>
          <p:cNvSpPr>
            <a:spLocks noGrp="1"/>
          </p:cNvSpPr>
          <p:nvPr/>
        </p:nvSpPr>
        <p:spPr>
          <a:xfrm>
            <a:off x="685800" y="5143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决策层技术架构</a:t>
            </a:r>
            <a:endParaRPr sz="3150" b="1">
              <a:solidFill>
                <a:srgbClr val="020618"/>
              </a:solidFill>
            </a:endParaRPr>
          </a:p>
        </p:txBody>
      </p:sp>
      <p:sp>
        <p:nvSpPr>
          <p:cNvPr id="3" name="slide-9-number"/>
          <p:cNvSpPr>
            <a:spLocks noGrp="1"/>
          </p:cNvSpPr>
          <p:nvPr/>
        </p:nvSpPr>
        <p:spPr>
          <a:xfrm>
            <a:off x="10763250" y="59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09</a:t>
            </a:r>
            <a:endParaRPr sz="1050" b="1">
              <a:solidFill>
                <a:srgbClr val="90A1B9"/>
              </a:solidFill>
            </a:endParaRPr>
          </a:p>
        </p:txBody>
      </p:sp>
      <p:sp>
        <p:nvSpPr>
          <p:cNvPr id="4" name="slide-9-pill-box"/>
          <p:cNvSpPr>
            <a:spLocks noGrp="1"/>
          </p:cNvSpPr>
          <p:nvPr/>
        </p:nvSpPr>
        <p:spPr>
          <a:xfrm>
            <a:off x="685800" y="1295400"/>
            <a:ext cx="1295400" cy="323850"/>
          </a:xfrm>
          <a:prstGeom prst="roundRect">
            <a:avLst>
              <a:gd name="adj" fmla="val 35294"/>
            </a:avLst>
          </a:prstGeom>
          <a:solidFill>
            <a:srgbClr val="ECFDF5"/>
          </a:solidFill>
          <a:ln w="9525">
            <a:solidFill>
              <a:srgbClr val="D0FAE5"/>
            </a:solidFill>
            <a:prstDash val="solid"/>
          </a:ln>
        </p:spPr>
      </p:sp>
      <p:sp>
        <p:nvSpPr>
          <p:cNvPr id="5" name="slide-9-pill-text"/>
          <p:cNvSpPr>
            <a:spLocks noGrp="1"/>
          </p:cNvSpPr>
          <p:nvPr/>
        </p:nvSpPr>
        <p:spPr>
          <a:xfrm>
            <a:off x="781050" y="1362075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07A55"/>
                </a:solidFill>
              </a:defRPr>
            </a:pPr>
            <a:r>
              <a:rPr sz="1125" b="1">
                <a:solidFill>
                  <a:srgbClr val="007A55"/>
                </a:solidFill>
              </a:rPr>
              <a:t>决策技术</a:t>
            </a:r>
            <a:endParaRPr sz="1125" b="1">
              <a:solidFill>
                <a:srgbClr val="007A55"/>
              </a:solidFill>
            </a:endParaRPr>
          </a:p>
        </p:txBody>
      </p:sp>
      <p:sp>
        <p:nvSpPr>
          <p:cNvPr id="6" name="slide-9-flow-card-1"/>
          <p:cNvSpPr>
            <a:spLocks noGrp="1"/>
          </p:cNvSpPr>
          <p:nvPr/>
        </p:nvSpPr>
        <p:spPr>
          <a:xfrm>
            <a:off x="685800" y="1885950"/>
            <a:ext cx="2971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lide-9-flow-title-1"/>
          <p:cNvSpPr>
            <a:spLocks noGrp="1"/>
          </p:cNvSpPr>
          <p:nvPr/>
        </p:nvSpPr>
        <p:spPr>
          <a:xfrm>
            <a:off x="952500" y="2171700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平台事实汇总</a:t>
            </a:r>
            <a:endParaRPr sz="1800" b="1">
              <a:solidFill>
                <a:srgbClr val="020618"/>
              </a:solidFill>
            </a:endParaRPr>
          </a:p>
        </p:txBody>
      </p:sp>
      <p:sp>
        <p:nvSpPr>
          <p:cNvPr id="8" name="slide-9-flow-body-1"/>
          <p:cNvSpPr>
            <a:spLocks noGrp="1"/>
          </p:cNvSpPr>
          <p:nvPr/>
        </p:nvSpPr>
        <p:spPr>
          <a:xfrm>
            <a:off x="971550" y="2609850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保留价格、评分、服务、店铺标签和趋势。</a:t>
            </a:r>
            <a:endParaRPr sz="1275">
              <a:solidFill>
                <a:srgbClr val="45556C"/>
              </a:solidFill>
            </a:endParaRPr>
          </a:p>
        </p:txBody>
      </p:sp>
      <p:sp>
        <p:nvSpPr>
          <p:cNvPr id="9" name="slide-9-flow-arrow-1"/>
          <p:cNvSpPr>
            <a:spLocks noGrp="1"/>
          </p:cNvSpPr>
          <p:nvPr/>
        </p:nvSpPr>
        <p:spPr>
          <a:xfrm>
            <a:off x="3981450" y="24003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CAD5E2"/>
                </a:solidFill>
              </a:defRPr>
            </a:pPr>
            <a:r>
              <a:rPr sz="2400" b="1">
                <a:solidFill>
                  <a:srgbClr val="CAD5E2"/>
                </a:solidFill>
              </a:rPr>
              <a:t>→</a:t>
            </a:r>
            <a:endParaRPr sz="2400" b="1">
              <a:solidFill>
                <a:srgbClr val="CAD5E2"/>
              </a:solidFill>
            </a:endParaRPr>
          </a:p>
        </p:txBody>
      </p:sp>
      <p:sp>
        <p:nvSpPr>
          <p:cNvPr id="10" name="slide-9-flow-card-2"/>
          <p:cNvSpPr>
            <a:spLocks noGrp="1"/>
          </p:cNvSpPr>
          <p:nvPr/>
        </p:nvSpPr>
        <p:spPr>
          <a:xfrm>
            <a:off x="4610100" y="1885950"/>
            <a:ext cx="2971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lide-9-flow-title-2"/>
          <p:cNvSpPr>
            <a:spLocks noGrp="1"/>
          </p:cNvSpPr>
          <p:nvPr/>
        </p:nvSpPr>
        <p:spPr>
          <a:xfrm>
            <a:off x="4876800" y="2171700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综合评分排序</a:t>
            </a:r>
            <a:endParaRPr sz="1800" b="1">
              <a:solidFill>
                <a:srgbClr val="020618"/>
              </a:solidFill>
            </a:endParaRPr>
          </a:p>
        </p:txBody>
      </p:sp>
      <p:sp>
        <p:nvSpPr>
          <p:cNvPr id="12" name="slide-9-flow-body-2"/>
          <p:cNvSpPr>
            <a:spLocks noGrp="1"/>
          </p:cNvSpPr>
          <p:nvPr/>
        </p:nvSpPr>
        <p:spPr>
          <a:xfrm>
            <a:off x="4895850" y="2609850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综合价格、预算、口碑、服务和平台差价。</a:t>
            </a:r>
            <a:endParaRPr sz="1275">
              <a:solidFill>
                <a:srgbClr val="45556C"/>
              </a:solidFill>
            </a:endParaRPr>
          </a:p>
        </p:txBody>
      </p:sp>
      <p:sp>
        <p:nvSpPr>
          <p:cNvPr id="13" name="slide-9-flow-arrow-2"/>
          <p:cNvSpPr>
            <a:spLocks noGrp="1"/>
          </p:cNvSpPr>
          <p:nvPr/>
        </p:nvSpPr>
        <p:spPr>
          <a:xfrm>
            <a:off x="7905750" y="24003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CAD5E2"/>
                </a:solidFill>
              </a:defRPr>
            </a:pPr>
            <a:r>
              <a:rPr sz="2400" b="1">
                <a:solidFill>
                  <a:srgbClr val="CAD5E2"/>
                </a:solidFill>
              </a:rPr>
              <a:t>→</a:t>
            </a:r>
            <a:endParaRPr sz="2400" b="1">
              <a:solidFill>
                <a:srgbClr val="CAD5E2"/>
              </a:solidFill>
            </a:endParaRPr>
          </a:p>
        </p:txBody>
      </p:sp>
      <p:sp>
        <p:nvSpPr>
          <p:cNvPr id="14" name="slide-9-flow-card-3"/>
          <p:cNvSpPr>
            <a:spLocks noGrp="1"/>
          </p:cNvSpPr>
          <p:nvPr/>
        </p:nvSpPr>
        <p:spPr>
          <a:xfrm>
            <a:off x="8534400" y="1885950"/>
            <a:ext cx="2971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lide-9-flow-title-3"/>
          <p:cNvSpPr>
            <a:spLocks noGrp="1"/>
          </p:cNvSpPr>
          <p:nvPr/>
        </p:nvSpPr>
        <p:spPr>
          <a:xfrm>
            <a:off x="8801100" y="2171700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购买判断生成</a:t>
            </a:r>
            <a:endParaRPr sz="1800" b="1">
              <a:solidFill>
                <a:srgbClr val="020618"/>
              </a:solidFill>
            </a:endParaRPr>
          </a:p>
        </p:txBody>
      </p:sp>
      <p:sp>
        <p:nvSpPr>
          <p:cNvPr id="16" name="slide-9-flow-body-3"/>
          <p:cNvSpPr>
            <a:spLocks noGrp="1"/>
          </p:cNvSpPr>
          <p:nvPr/>
        </p:nvSpPr>
        <p:spPr>
          <a:xfrm>
            <a:off x="8820150" y="2609850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给出购买建议，并说明依据与风险。</a:t>
            </a:r>
            <a:endParaRPr sz="1275">
              <a:solidFill>
                <a:srgbClr val="45556C"/>
              </a:solidFill>
            </a:endParaRPr>
          </a:p>
        </p:txBody>
      </p:sp>
      <p:sp>
        <p:nvSpPr>
          <p:cNvPr id="17" name="slide-9-platform-card"/>
          <p:cNvSpPr>
            <a:spLocks noGrp="1"/>
          </p:cNvSpPr>
          <p:nvPr/>
        </p:nvSpPr>
        <p:spPr>
          <a:xfrm>
            <a:off x="685800" y="3810000"/>
            <a:ext cx="51435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lide-9-platform-title"/>
          <p:cNvSpPr>
            <a:spLocks noGrp="1"/>
          </p:cNvSpPr>
          <p:nvPr/>
        </p:nvSpPr>
        <p:spPr>
          <a:xfrm>
            <a:off x="1009650" y="4076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9966"/>
                </a:solidFill>
              </a:defRPr>
            </a:pPr>
            <a:r>
              <a:rPr sz="1800" b="1">
                <a:solidFill>
                  <a:srgbClr val="009966"/>
                </a:solidFill>
              </a:rPr>
              <a:t>平台比价区</a:t>
            </a:r>
            <a:endParaRPr sz="1800" b="1">
              <a:solidFill>
                <a:srgbClr val="009966"/>
              </a:solidFill>
            </a:endParaRPr>
          </a:p>
        </p:txBody>
      </p:sp>
      <p:sp>
        <p:nvSpPr>
          <p:cNvPr id="19" name="slide-9-platform-body"/>
          <p:cNvSpPr>
            <a:spLocks noGrp="1"/>
          </p:cNvSpPr>
          <p:nvPr/>
        </p:nvSpPr>
        <p:spPr>
          <a:xfrm>
            <a:off x="2609850" y="403860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集中展示平台价格、口碑、服务和推荐标签。</a:t>
            </a:r>
            <a:endParaRPr sz="1275">
              <a:solidFill>
                <a:srgbClr val="45556C"/>
              </a:solidFill>
            </a:endParaRPr>
          </a:p>
        </p:txBody>
      </p:sp>
      <p:sp>
        <p:nvSpPr>
          <p:cNvPr id="20" name="slide-9-judgment-card"/>
          <p:cNvSpPr>
            <a:spLocks noGrp="1"/>
          </p:cNvSpPr>
          <p:nvPr/>
        </p:nvSpPr>
        <p:spPr>
          <a:xfrm>
            <a:off x="6362700" y="3810000"/>
            <a:ext cx="51435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lide-9-judgment-title"/>
          <p:cNvSpPr>
            <a:spLocks noGrp="1"/>
          </p:cNvSpPr>
          <p:nvPr/>
        </p:nvSpPr>
        <p:spPr>
          <a:xfrm>
            <a:off x="6686550" y="4076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9966"/>
                </a:solidFill>
              </a:defRPr>
            </a:pPr>
            <a:r>
              <a:rPr sz="1800" b="1">
                <a:solidFill>
                  <a:srgbClr val="009966"/>
                </a:solidFill>
              </a:rPr>
              <a:t>购买判断区</a:t>
            </a:r>
            <a:endParaRPr sz="1800" b="1">
              <a:solidFill>
                <a:srgbClr val="009966"/>
              </a:solidFill>
            </a:endParaRPr>
          </a:p>
        </p:txBody>
      </p:sp>
      <p:sp>
        <p:nvSpPr>
          <p:cNvPr id="22" name="slide-9-judgment-body"/>
          <p:cNvSpPr>
            <a:spLocks noGrp="1"/>
          </p:cNvSpPr>
          <p:nvPr/>
        </p:nvSpPr>
        <p:spPr>
          <a:xfrm>
            <a:off x="8248650" y="4038600"/>
            <a:ext cx="3028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先给建议，再展开低价、评分、评价量和平台差价。</a:t>
            </a:r>
            <a:endParaRPr sz="1275">
              <a:solidFill>
                <a:srgbClr val="45556C"/>
              </a:solidFill>
            </a:endParaRPr>
          </a:p>
        </p:txBody>
      </p:sp>
      <p:sp>
        <p:nvSpPr>
          <p:cNvPr id="23" name="slide-9-bottom"/>
          <p:cNvSpPr>
            <a:spLocks noGrp="1"/>
          </p:cNvSpPr>
          <p:nvPr/>
        </p:nvSpPr>
        <p:spPr>
          <a:xfrm>
            <a:off x="1352550" y="5524500"/>
            <a:ext cx="9486900" cy="495300"/>
          </a:xfrm>
          <a:prstGeom prst="roundRect">
            <a:avLst>
              <a:gd name="adj" fmla="val 23077"/>
            </a:avLst>
          </a:prstGeom>
          <a:solidFill>
            <a:srgbClr val="0F172B"/>
          </a:solidFill>
          <a:ln w="9525">
            <a:solidFill>
              <a:srgbClr val="0F172B"/>
            </a:solidFill>
            <a:prstDash val="solid"/>
          </a:ln>
        </p:spPr>
      </p:sp>
      <p:sp>
        <p:nvSpPr>
          <p:cNvPr id="24" name="slide-9-bottom-text"/>
          <p:cNvSpPr>
            <a:spLocks noGrp="1"/>
          </p:cNvSpPr>
          <p:nvPr/>
        </p:nvSpPr>
        <p:spPr>
          <a:xfrm>
            <a:off x="1676400" y="5676900"/>
            <a:ext cx="883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决策层的重点：事实先结构化计算，AI 只把受控事实解释成购买判断。</a:t>
            </a:r>
            <a:endParaRPr sz="127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10-title"/>
          <p:cNvSpPr>
            <a:spLocks noGrp="1"/>
          </p:cNvSpPr>
          <p:nvPr/>
        </p:nvSpPr>
        <p:spPr>
          <a:xfrm>
            <a:off x="685800" y="5143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决策层运行截图</a:t>
            </a:r>
            <a:endParaRPr sz="3150" b="1">
              <a:solidFill>
                <a:srgbClr val="020618"/>
              </a:solidFill>
            </a:endParaRPr>
          </a:p>
        </p:txBody>
      </p:sp>
      <p:sp>
        <p:nvSpPr>
          <p:cNvPr id="3" name="slide-10-number"/>
          <p:cNvSpPr>
            <a:spLocks noGrp="1"/>
          </p:cNvSpPr>
          <p:nvPr/>
        </p:nvSpPr>
        <p:spPr>
          <a:xfrm>
            <a:off x="10763250" y="59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10</a:t>
            </a:r>
            <a:endParaRPr sz="1050" b="1">
              <a:solidFill>
                <a:srgbClr val="90A1B9"/>
              </a:solidFill>
            </a:endParaRPr>
          </a:p>
        </p:txBody>
      </p:sp>
      <p:sp>
        <p:nvSpPr>
          <p:cNvPr id="4" name="slide-10-shot-1-label"/>
          <p:cNvSpPr>
            <a:spLocks noGrp="1"/>
          </p:cNvSpPr>
          <p:nvPr/>
        </p:nvSpPr>
        <p:spPr>
          <a:xfrm>
            <a:off x="2476500" y="125730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14158"/>
                </a:solidFill>
              </a:defRPr>
            </a:pPr>
            <a:r>
              <a:rPr sz="1275" b="1">
                <a:solidFill>
                  <a:srgbClr val="314158"/>
                </a:solidFill>
              </a:rPr>
              <a:t>购买判断</a:t>
            </a:r>
            <a:endParaRPr sz="1275" b="1">
              <a:solidFill>
                <a:srgbClr val="314158"/>
              </a:solidFill>
            </a:endParaRPr>
          </a:p>
        </p:txBody>
      </p:sp>
      <p:sp>
        <p:nvSpPr>
          <p:cNvPr id="5" name="slide-10-shot-1-frame"/>
          <p:cNvSpPr>
            <a:spLocks noGrp="1"/>
          </p:cNvSpPr>
          <p:nvPr/>
        </p:nvSpPr>
        <p:spPr>
          <a:xfrm>
            <a:off x="2476500" y="1504950"/>
            <a:ext cx="3048000" cy="47625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l="3373" r="3373"/>
          <a:stretch>
            <a:fillRect/>
          </a:stretch>
        </p:blipFill>
        <p:spPr>
          <a:xfrm>
            <a:off x="2571750" y="1600200"/>
            <a:ext cx="2857500" cy="4572000"/>
          </a:xfrm>
          <a:prstGeom prst="rect">
            <a:avLst/>
          </a:prstGeom>
        </p:spPr>
      </p:pic>
      <p:sp>
        <p:nvSpPr>
          <p:cNvPr id="6" name="slide-10-shot-1-caption"/>
          <p:cNvSpPr>
            <a:spLocks noGrp="1"/>
          </p:cNvSpPr>
          <p:nvPr/>
        </p:nvSpPr>
        <p:spPr>
          <a:xfrm>
            <a:off x="2476500" y="63436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先给购买建议，再列出低价、评分、评价量和差价。</a:t>
            </a:r>
            <a:endParaRPr sz="1125">
              <a:solidFill>
                <a:srgbClr val="45556C"/>
              </a:solidFill>
            </a:endParaRPr>
          </a:p>
        </p:txBody>
      </p:sp>
      <p:sp>
        <p:nvSpPr>
          <p:cNvPr id="7" name="slide-10-shot-2-label"/>
          <p:cNvSpPr>
            <a:spLocks noGrp="1"/>
          </p:cNvSpPr>
          <p:nvPr/>
        </p:nvSpPr>
        <p:spPr>
          <a:xfrm>
            <a:off x="6667500" y="125730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14158"/>
                </a:solidFill>
              </a:defRPr>
            </a:pPr>
            <a:r>
              <a:rPr sz="1275" b="1">
                <a:solidFill>
                  <a:srgbClr val="314158"/>
                </a:solidFill>
              </a:rPr>
              <a:t>平台比价</a:t>
            </a:r>
            <a:endParaRPr sz="1275" b="1">
              <a:solidFill>
                <a:srgbClr val="314158"/>
              </a:solidFill>
            </a:endParaRPr>
          </a:p>
        </p:txBody>
      </p:sp>
      <p:sp>
        <p:nvSpPr>
          <p:cNvPr id="8" name="slide-10-shot-2-frame"/>
          <p:cNvSpPr>
            <a:spLocks noGrp="1"/>
          </p:cNvSpPr>
          <p:nvPr/>
        </p:nvSpPr>
        <p:spPr>
          <a:xfrm>
            <a:off x="6667500" y="1504950"/>
            <a:ext cx="3048000" cy="47625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rcRect t="240" b="240"/>
          <a:stretch>
            <a:fillRect/>
          </a:stretch>
        </p:blipFill>
        <p:spPr>
          <a:xfrm>
            <a:off x="6762750" y="1600200"/>
            <a:ext cx="2857500" cy="4572000"/>
          </a:xfrm>
          <a:prstGeom prst="rect">
            <a:avLst/>
          </a:prstGeom>
        </p:spPr>
      </p:pic>
      <p:sp>
        <p:nvSpPr>
          <p:cNvPr id="10" name="slide-10-shot-2-caption"/>
          <p:cNvSpPr>
            <a:spLocks noGrp="1"/>
          </p:cNvSpPr>
          <p:nvPr/>
        </p:nvSpPr>
        <p:spPr>
          <a:xfrm>
            <a:off x="6667500" y="63436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按平台保留价格、口碑和服务重点，支持下单前核验。</a:t>
            </a:r>
            <a:endParaRPr sz="1125">
              <a:solidFill>
                <a:srgbClr val="45556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11-title"/>
          <p:cNvSpPr>
            <a:spLocks noGrp="1"/>
          </p:cNvSpPr>
          <p:nvPr/>
        </p:nvSpPr>
        <p:spPr>
          <a:xfrm>
            <a:off x="685800" y="5143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三层实现如何回应问题</a:t>
            </a:r>
            <a:endParaRPr sz="3150" b="1">
              <a:solidFill>
                <a:srgbClr val="020618"/>
              </a:solidFill>
            </a:endParaRPr>
          </a:p>
        </p:txBody>
      </p:sp>
      <p:sp>
        <p:nvSpPr>
          <p:cNvPr id="3" name="slide-11-number"/>
          <p:cNvSpPr>
            <a:spLocks noGrp="1"/>
          </p:cNvSpPr>
          <p:nvPr/>
        </p:nvSpPr>
        <p:spPr>
          <a:xfrm>
            <a:off x="10763250" y="59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11</a:t>
            </a:r>
            <a:endParaRPr sz="1050" b="1">
              <a:solidFill>
                <a:srgbClr val="90A1B9"/>
              </a:solidFill>
            </a:endParaRPr>
          </a:p>
        </p:txBody>
      </p:sp>
      <p:sp>
        <p:nvSpPr>
          <p:cNvPr id="4" name="slide-11-col-1"/>
          <p:cNvSpPr>
            <a:spLocks noGrp="1"/>
          </p:cNvSpPr>
          <p:nvPr/>
        </p:nvSpPr>
        <p:spPr>
          <a:xfrm>
            <a:off x="1028700" y="15240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62748E"/>
                </a:solidFill>
              </a:defRPr>
            </a:pPr>
            <a:r>
              <a:rPr sz="1425" b="1">
                <a:solidFill>
                  <a:srgbClr val="62748E"/>
                </a:solidFill>
              </a:rPr>
              <a:t>开始的问题</a:t>
            </a:r>
            <a:endParaRPr sz="1425" b="1">
              <a:solidFill>
                <a:srgbClr val="62748E"/>
              </a:solidFill>
            </a:endParaRPr>
          </a:p>
        </p:txBody>
      </p:sp>
      <p:sp>
        <p:nvSpPr>
          <p:cNvPr id="5" name="slide-11-col-2"/>
          <p:cNvSpPr>
            <a:spLocks noGrp="1"/>
          </p:cNvSpPr>
          <p:nvPr/>
        </p:nvSpPr>
        <p:spPr>
          <a:xfrm>
            <a:off x="4095750" y="15240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62748E"/>
                </a:solidFill>
              </a:defRPr>
            </a:pPr>
            <a:r>
              <a:rPr sz="1425" b="1">
                <a:solidFill>
                  <a:srgbClr val="62748E"/>
                </a:solidFill>
              </a:rPr>
              <a:t>项目里的实现</a:t>
            </a:r>
            <a:endParaRPr sz="1425" b="1">
              <a:solidFill>
                <a:srgbClr val="62748E"/>
              </a:solidFill>
            </a:endParaRPr>
          </a:p>
        </p:txBody>
      </p:sp>
      <p:sp>
        <p:nvSpPr>
          <p:cNvPr id="6" name="slide-11-col-3"/>
          <p:cNvSpPr>
            <a:spLocks noGrp="1"/>
          </p:cNvSpPr>
          <p:nvPr/>
        </p:nvSpPr>
        <p:spPr>
          <a:xfrm>
            <a:off x="7467600" y="15240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62748E"/>
                </a:solidFill>
              </a:defRPr>
            </a:pPr>
            <a:r>
              <a:rPr sz="1425" b="1">
                <a:solidFill>
                  <a:srgbClr val="62748E"/>
                </a:solidFill>
              </a:rPr>
              <a:t>解决后的结果</a:t>
            </a:r>
            <a:endParaRPr sz="1425" b="1">
              <a:solidFill>
                <a:srgbClr val="62748E"/>
              </a:solidFill>
            </a:endParaRPr>
          </a:p>
        </p:txBody>
      </p:sp>
      <p:sp>
        <p:nvSpPr>
          <p:cNvPr id="7" name="slide-11-row-0-box"/>
          <p:cNvSpPr>
            <a:spLocks noGrp="1"/>
          </p:cNvSpPr>
          <p:nvPr/>
        </p:nvSpPr>
        <p:spPr>
          <a:xfrm>
            <a:off x="685800" y="1943100"/>
            <a:ext cx="108204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lide-11-row-0-title"/>
          <p:cNvSpPr>
            <a:spLocks noGrp="1"/>
          </p:cNvSpPr>
          <p:nvPr/>
        </p:nvSpPr>
        <p:spPr>
          <a:xfrm>
            <a:off x="1028700" y="21526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识别断点</a:t>
            </a:r>
            <a:endParaRPr sz="1725" b="1">
              <a:solidFill>
                <a:srgbClr val="020618"/>
              </a:solidFill>
            </a:endParaRPr>
          </a:p>
        </p:txBody>
      </p:sp>
      <p:sp>
        <p:nvSpPr>
          <p:cNvPr id="9" name="slide-11-row-0-problem"/>
          <p:cNvSpPr>
            <a:spLocks noGrp="1"/>
          </p:cNvSpPr>
          <p:nvPr/>
        </p:nvSpPr>
        <p:spPr>
          <a:xfrm>
            <a:off x="1028700" y="25336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品牌 / 款式 / 型号缺失</a:t>
            </a:r>
            <a:endParaRPr sz="1350">
              <a:solidFill>
                <a:srgbClr val="45556C"/>
              </a:solidFill>
            </a:endParaRPr>
          </a:p>
        </p:txBody>
      </p:sp>
      <p:sp>
        <p:nvSpPr>
          <p:cNvPr id="10" name="slide-11-row-0-arrow-1"/>
          <p:cNvSpPr>
            <a:spLocks noGrp="1"/>
          </p:cNvSpPr>
          <p:nvPr/>
        </p:nvSpPr>
        <p:spPr>
          <a:xfrm>
            <a:off x="3390900" y="23431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11" name="slide-11-row-0-impl"/>
          <p:cNvSpPr>
            <a:spLocks noGrp="1"/>
          </p:cNvSpPr>
          <p:nvPr/>
        </p:nvSpPr>
        <p:spPr>
          <a:xfrm>
            <a:off x="4095750" y="2190750"/>
            <a:ext cx="2647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拍照识别卡片</a:t>
            </a:r>
            <a:endParaRPr sz="1350" b="1">
              <a:solidFill>
                <a:srgbClr val="0F172B"/>
              </a:solidFill>
            </a:endParaRPr>
          </a:p>
          <a:p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识别结果详情页</a:t>
            </a:r>
            <a:endParaRPr sz="1350" b="1">
              <a:solidFill>
                <a:srgbClr val="0F172B"/>
              </a:solidFill>
            </a:endParaRPr>
          </a:p>
        </p:txBody>
      </p:sp>
      <p:sp>
        <p:nvSpPr>
          <p:cNvPr id="12" name="slide-11-row-0-arrow-2"/>
          <p:cNvSpPr>
            <a:spLocks noGrp="1"/>
          </p:cNvSpPr>
          <p:nvPr/>
        </p:nvSpPr>
        <p:spPr>
          <a:xfrm>
            <a:off x="6800850" y="23431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13" name="slide-11-row-0-result"/>
          <p:cNvSpPr>
            <a:spLocks noGrp="1"/>
          </p:cNvSpPr>
          <p:nvPr/>
        </p:nvSpPr>
        <p:spPr>
          <a:xfrm>
            <a:off x="7467600" y="222885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从图片提取品类、品牌、型号，并支持详情页修正。</a:t>
            </a:r>
            <a:endParaRPr sz="1350">
              <a:solidFill>
                <a:srgbClr val="45556C"/>
              </a:solidFill>
            </a:endParaRPr>
          </a:p>
        </p:txBody>
      </p:sp>
      <p:sp>
        <p:nvSpPr>
          <p:cNvPr id="14" name="slide-11-row-1-box"/>
          <p:cNvSpPr>
            <a:spLocks noGrp="1"/>
          </p:cNvSpPr>
          <p:nvPr/>
        </p:nvSpPr>
        <p:spPr>
          <a:xfrm>
            <a:off x="685800" y="3238500"/>
            <a:ext cx="108204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lide-11-row-1-title"/>
          <p:cNvSpPr>
            <a:spLocks noGrp="1"/>
          </p:cNvSpPr>
          <p:nvPr/>
        </p:nvSpPr>
        <p:spPr>
          <a:xfrm>
            <a:off x="1028700" y="34480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检索断点</a:t>
            </a:r>
            <a:endParaRPr sz="1725" b="1">
              <a:solidFill>
                <a:srgbClr val="020618"/>
              </a:solidFill>
            </a:endParaRPr>
          </a:p>
        </p:txBody>
      </p:sp>
      <p:sp>
        <p:nvSpPr>
          <p:cNvPr id="16" name="slide-11-row-1-problem"/>
          <p:cNvSpPr>
            <a:spLocks noGrp="1"/>
          </p:cNvSpPr>
          <p:nvPr/>
        </p:nvSpPr>
        <p:spPr>
          <a:xfrm>
            <a:off x="1028700" y="38290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相似结果过多，条件分散</a:t>
            </a:r>
            <a:endParaRPr sz="1350">
              <a:solidFill>
                <a:srgbClr val="45556C"/>
              </a:solidFill>
            </a:endParaRPr>
          </a:p>
        </p:txBody>
      </p:sp>
      <p:sp>
        <p:nvSpPr>
          <p:cNvPr id="17" name="slide-11-row-1-arrow-1"/>
          <p:cNvSpPr>
            <a:spLocks noGrp="1"/>
          </p:cNvSpPr>
          <p:nvPr/>
        </p:nvSpPr>
        <p:spPr>
          <a:xfrm>
            <a:off x="3390900" y="36385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18" name="slide-11-row-1-impl"/>
          <p:cNvSpPr>
            <a:spLocks noGrp="1"/>
          </p:cNvSpPr>
          <p:nvPr/>
        </p:nvSpPr>
        <p:spPr>
          <a:xfrm>
            <a:off x="4095750" y="3486150"/>
            <a:ext cx="2647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本轮筛选区</a:t>
            </a:r>
            <a:endParaRPr sz="1350" b="1">
              <a:solidFill>
                <a:srgbClr val="0F172B"/>
              </a:solidFill>
            </a:endParaRPr>
          </a:p>
          <a:p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同款结果卡片</a:t>
            </a:r>
            <a:endParaRPr sz="1350" b="1">
              <a:solidFill>
                <a:srgbClr val="0F172B"/>
              </a:solidFill>
            </a:endParaRPr>
          </a:p>
        </p:txBody>
      </p:sp>
      <p:sp>
        <p:nvSpPr>
          <p:cNvPr id="19" name="slide-11-row-1-arrow-2"/>
          <p:cNvSpPr>
            <a:spLocks noGrp="1"/>
          </p:cNvSpPr>
          <p:nvPr/>
        </p:nvSpPr>
        <p:spPr>
          <a:xfrm>
            <a:off x="6800850" y="36385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20" name="slide-11-row-1-result"/>
          <p:cNvSpPr>
            <a:spLocks noGrp="1"/>
          </p:cNvSpPr>
          <p:nvPr/>
        </p:nvSpPr>
        <p:spPr>
          <a:xfrm>
            <a:off x="7467600" y="352425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沿用识别线索和追加条件，组织成同款商品组。</a:t>
            </a:r>
            <a:endParaRPr sz="1350">
              <a:solidFill>
                <a:srgbClr val="45556C"/>
              </a:solidFill>
            </a:endParaRPr>
          </a:p>
        </p:txBody>
      </p:sp>
      <p:sp>
        <p:nvSpPr>
          <p:cNvPr id="21" name="slide-11-row-2-box"/>
          <p:cNvSpPr>
            <a:spLocks noGrp="1"/>
          </p:cNvSpPr>
          <p:nvPr/>
        </p:nvSpPr>
        <p:spPr>
          <a:xfrm>
            <a:off x="685800" y="4533900"/>
            <a:ext cx="1082040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lide-11-row-2-title"/>
          <p:cNvSpPr>
            <a:spLocks noGrp="1"/>
          </p:cNvSpPr>
          <p:nvPr/>
        </p:nvSpPr>
        <p:spPr>
          <a:xfrm>
            <a:off x="1028700" y="47434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决策断点</a:t>
            </a:r>
            <a:endParaRPr sz="1725" b="1">
              <a:solidFill>
                <a:srgbClr val="020618"/>
              </a:solidFill>
            </a:endParaRPr>
          </a:p>
        </p:txBody>
      </p:sp>
      <p:sp>
        <p:nvSpPr>
          <p:cNvPr id="23" name="slide-11-row-2-problem"/>
          <p:cNvSpPr>
            <a:spLocks noGrp="1"/>
          </p:cNvSpPr>
          <p:nvPr/>
        </p:nvSpPr>
        <p:spPr>
          <a:xfrm>
            <a:off x="1028700" y="51244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价格、平台、口碑需要核验</a:t>
            </a:r>
            <a:endParaRPr sz="1350">
              <a:solidFill>
                <a:srgbClr val="45556C"/>
              </a:solidFill>
            </a:endParaRPr>
          </a:p>
        </p:txBody>
      </p:sp>
      <p:sp>
        <p:nvSpPr>
          <p:cNvPr id="24" name="slide-11-row-2-arrow-1"/>
          <p:cNvSpPr>
            <a:spLocks noGrp="1"/>
          </p:cNvSpPr>
          <p:nvPr/>
        </p:nvSpPr>
        <p:spPr>
          <a:xfrm>
            <a:off x="3390900" y="49339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25" name="slide-11-row-2-impl"/>
          <p:cNvSpPr>
            <a:spLocks noGrp="1"/>
          </p:cNvSpPr>
          <p:nvPr/>
        </p:nvSpPr>
        <p:spPr>
          <a:xfrm>
            <a:off x="4095750" y="4781550"/>
            <a:ext cx="2647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购买判断区</a:t>
            </a:r>
            <a:endParaRPr sz="1350" b="1">
              <a:solidFill>
                <a:srgbClr val="0F172B"/>
              </a:solidFill>
            </a:endParaRPr>
          </a:p>
          <a:p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平台比价区</a:t>
            </a:r>
            <a:endParaRPr sz="1350" b="1">
              <a:solidFill>
                <a:srgbClr val="0F172B"/>
              </a:solidFill>
            </a:endParaRPr>
          </a:p>
        </p:txBody>
      </p:sp>
      <p:sp>
        <p:nvSpPr>
          <p:cNvPr id="26" name="slide-11-row-2-arrow-2"/>
          <p:cNvSpPr>
            <a:spLocks noGrp="1"/>
          </p:cNvSpPr>
          <p:nvPr/>
        </p:nvSpPr>
        <p:spPr>
          <a:xfrm>
            <a:off x="6800850" y="4933950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AD5E2"/>
                </a:solidFill>
              </a:defRPr>
            </a:pPr>
            <a:r>
              <a:rPr sz="1875" b="1">
                <a:solidFill>
                  <a:srgbClr val="CAD5E2"/>
                </a:solidFill>
              </a:rPr>
              <a:t>→</a:t>
            </a:r>
            <a:endParaRPr sz="1875" b="1">
              <a:solidFill>
                <a:srgbClr val="CAD5E2"/>
              </a:solidFill>
            </a:endParaRPr>
          </a:p>
        </p:txBody>
      </p:sp>
      <p:sp>
        <p:nvSpPr>
          <p:cNvPr id="27" name="slide-11-row-2-result"/>
          <p:cNvSpPr>
            <a:spLocks noGrp="1"/>
          </p:cNvSpPr>
          <p:nvPr/>
        </p:nvSpPr>
        <p:spPr>
          <a:xfrm>
            <a:off x="7467600" y="481965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把评分、证据和风险转成可解释的购买判断。</a:t>
            </a:r>
            <a:endParaRPr sz="1350">
              <a:solidFill>
                <a:srgbClr val="45556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12-title"/>
          <p:cNvSpPr>
            <a:spLocks noGrp="1"/>
          </p:cNvSpPr>
          <p:nvPr/>
        </p:nvSpPr>
        <p:spPr>
          <a:xfrm>
            <a:off x="685800" y="5143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后续扩展</a:t>
            </a:r>
            <a:endParaRPr sz="3150" b="1">
              <a:solidFill>
                <a:srgbClr val="020618"/>
              </a:solidFill>
            </a:endParaRPr>
          </a:p>
        </p:txBody>
      </p:sp>
      <p:sp>
        <p:nvSpPr>
          <p:cNvPr id="3" name="slide-12-number"/>
          <p:cNvSpPr>
            <a:spLocks noGrp="1"/>
          </p:cNvSpPr>
          <p:nvPr/>
        </p:nvSpPr>
        <p:spPr>
          <a:xfrm>
            <a:off x="10763250" y="59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0A1B9"/>
                </a:solidFill>
              </a:defRPr>
            </a:pPr>
            <a:r>
              <a:rPr sz="1050" b="1">
                <a:solidFill>
                  <a:srgbClr val="90A1B9"/>
                </a:solidFill>
              </a:rPr>
              <a:t>12</a:t>
            </a:r>
            <a:endParaRPr sz="1050" b="1">
              <a:solidFill>
                <a:srgbClr val="90A1B9"/>
              </a:solidFill>
            </a:endParaRPr>
          </a:p>
        </p:txBody>
      </p:sp>
      <p:sp>
        <p:nvSpPr>
          <p:cNvPr id="4" name="slide-12-extension-0"/>
          <p:cNvSpPr>
            <a:spLocks noGrp="1"/>
          </p:cNvSpPr>
          <p:nvPr/>
        </p:nvSpPr>
        <p:spPr>
          <a:xfrm>
            <a:off x="685800" y="1771650"/>
            <a:ext cx="3276600" cy="30099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lide-12-extension-0-number"/>
          <p:cNvSpPr>
            <a:spLocks noGrp="1"/>
          </p:cNvSpPr>
          <p:nvPr/>
        </p:nvSpPr>
        <p:spPr>
          <a:xfrm>
            <a:off x="1009650" y="21145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9966"/>
                </a:solidFill>
              </a:defRPr>
            </a:pPr>
            <a:r>
              <a:rPr sz="1350" b="1">
                <a:solidFill>
                  <a:srgbClr val="009966"/>
                </a:solidFill>
              </a:rPr>
              <a:t>01</a:t>
            </a:r>
            <a:endParaRPr sz="1350" b="1">
              <a:solidFill>
                <a:srgbClr val="009966"/>
              </a:solidFill>
            </a:endParaRPr>
          </a:p>
        </p:txBody>
      </p:sp>
      <p:sp>
        <p:nvSpPr>
          <p:cNvPr id="6" name="slide-12-extension-0-title"/>
          <p:cNvSpPr>
            <a:spLocks noGrp="1"/>
          </p:cNvSpPr>
          <p:nvPr/>
        </p:nvSpPr>
        <p:spPr>
          <a:xfrm>
            <a:off x="1009650" y="259080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采用真实数据</a:t>
            </a:r>
            <a:endParaRPr sz="2100" b="1">
              <a:solidFill>
                <a:srgbClr val="020618"/>
              </a:solidFill>
            </a:endParaRPr>
          </a:p>
        </p:txBody>
      </p:sp>
      <p:sp>
        <p:nvSpPr>
          <p:cNvPr id="7" name="slide-12-extension-0-body"/>
          <p:cNvSpPr>
            <a:spLocks noGrp="1"/>
          </p:cNvSpPr>
          <p:nvPr/>
        </p:nvSpPr>
        <p:spPr>
          <a:xfrm>
            <a:off x="1009650" y="3295650"/>
            <a:ext cx="26289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接入真实电商接口，补充实时商品、价格、店铺与评价信息。</a:t>
            </a:r>
            <a:endParaRPr sz="1500">
              <a:solidFill>
                <a:srgbClr val="45556C"/>
              </a:solidFill>
            </a:endParaRPr>
          </a:p>
        </p:txBody>
      </p:sp>
      <p:sp>
        <p:nvSpPr>
          <p:cNvPr id="8" name="slide-12-extension-1"/>
          <p:cNvSpPr>
            <a:spLocks noGrp="1"/>
          </p:cNvSpPr>
          <p:nvPr/>
        </p:nvSpPr>
        <p:spPr>
          <a:xfrm>
            <a:off x="4438650" y="1771650"/>
            <a:ext cx="3276600" cy="30099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lide-12-extension-1-number"/>
          <p:cNvSpPr>
            <a:spLocks noGrp="1"/>
          </p:cNvSpPr>
          <p:nvPr/>
        </p:nvSpPr>
        <p:spPr>
          <a:xfrm>
            <a:off x="4762500" y="21145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9966"/>
                </a:solidFill>
              </a:defRPr>
            </a:pPr>
            <a:r>
              <a:rPr sz="1350" b="1">
                <a:solidFill>
                  <a:srgbClr val="009966"/>
                </a:solidFill>
              </a:rPr>
              <a:t>02</a:t>
            </a:r>
            <a:endParaRPr sz="1350" b="1">
              <a:solidFill>
                <a:srgbClr val="009966"/>
              </a:solidFill>
            </a:endParaRPr>
          </a:p>
        </p:txBody>
      </p:sp>
      <p:sp>
        <p:nvSpPr>
          <p:cNvPr id="10" name="slide-12-extension-1-title"/>
          <p:cNvSpPr>
            <a:spLocks noGrp="1"/>
          </p:cNvSpPr>
          <p:nvPr/>
        </p:nvSpPr>
        <p:spPr>
          <a:xfrm>
            <a:off x="4762500" y="259080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工程化落地</a:t>
            </a:r>
            <a:endParaRPr sz="2100" b="1">
              <a:solidFill>
                <a:srgbClr val="020618"/>
              </a:solidFill>
            </a:endParaRPr>
          </a:p>
        </p:txBody>
      </p:sp>
      <p:sp>
        <p:nvSpPr>
          <p:cNvPr id="11" name="slide-12-extension-1-body"/>
          <p:cNvSpPr>
            <a:spLocks noGrp="1"/>
          </p:cNvSpPr>
          <p:nvPr/>
        </p:nvSpPr>
        <p:spPr>
          <a:xfrm>
            <a:off x="4762500" y="3295650"/>
            <a:ext cx="26289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完善登录认证功能，补充用户个性化功能与偏好保存。</a:t>
            </a:r>
            <a:endParaRPr sz="1500">
              <a:solidFill>
                <a:srgbClr val="45556C"/>
              </a:solidFill>
            </a:endParaRPr>
          </a:p>
        </p:txBody>
      </p:sp>
      <p:sp>
        <p:nvSpPr>
          <p:cNvPr id="12" name="slide-12-extension-2"/>
          <p:cNvSpPr>
            <a:spLocks noGrp="1"/>
          </p:cNvSpPr>
          <p:nvPr/>
        </p:nvSpPr>
        <p:spPr>
          <a:xfrm>
            <a:off x="8191500" y="1771650"/>
            <a:ext cx="3276600" cy="30099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lide-12-extension-2-number"/>
          <p:cNvSpPr>
            <a:spLocks noGrp="1"/>
          </p:cNvSpPr>
          <p:nvPr/>
        </p:nvSpPr>
        <p:spPr>
          <a:xfrm>
            <a:off x="8515350" y="21145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9966"/>
                </a:solidFill>
              </a:defRPr>
            </a:pPr>
            <a:r>
              <a:rPr sz="1350" b="1">
                <a:solidFill>
                  <a:srgbClr val="009966"/>
                </a:solidFill>
              </a:rPr>
              <a:t>03</a:t>
            </a:r>
            <a:endParaRPr sz="1350" b="1">
              <a:solidFill>
                <a:srgbClr val="009966"/>
              </a:solidFill>
            </a:endParaRPr>
          </a:p>
        </p:txBody>
      </p:sp>
      <p:sp>
        <p:nvSpPr>
          <p:cNvPr id="14" name="slide-12-extension-2-title"/>
          <p:cNvSpPr>
            <a:spLocks noGrp="1"/>
          </p:cNvSpPr>
          <p:nvPr/>
        </p:nvSpPr>
        <p:spPr>
          <a:xfrm>
            <a:off x="8515350" y="2590800"/>
            <a:ext cx="2628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优化使用体验</a:t>
            </a:r>
            <a:endParaRPr sz="2100" b="1">
              <a:solidFill>
                <a:srgbClr val="020618"/>
              </a:solidFill>
            </a:endParaRPr>
          </a:p>
        </p:txBody>
      </p:sp>
      <p:sp>
        <p:nvSpPr>
          <p:cNvPr id="15" name="slide-12-extension-2-body"/>
          <p:cNvSpPr>
            <a:spLocks noGrp="1"/>
          </p:cNvSpPr>
          <p:nvPr/>
        </p:nvSpPr>
        <p:spPr>
          <a:xfrm>
            <a:off x="8515350" y="3295650"/>
            <a:ext cx="26289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梳理检索信息，优化输出内容，让结果更清晰、更可核验。</a:t>
            </a:r>
            <a:endParaRPr sz="1500">
              <a:solidFill>
                <a:srgbClr val="45556C"/>
              </a:solidFill>
            </a:endParaRPr>
          </a:p>
        </p:txBody>
      </p:sp>
      <p:sp>
        <p:nvSpPr>
          <p:cNvPr id="16" name="slide-12-summary"/>
          <p:cNvSpPr>
            <a:spLocks noGrp="1"/>
          </p:cNvSpPr>
          <p:nvPr/>
        </p:nvSpPr>
        <p:spPr>
          <a:xfrm>
            <a:off x="2247900" y="5219700"/>
            <a:ext cx="7696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314158"/>
                </a:solidFill>
              </a:defRPr>
            </a:pPr>
            <a:r>
              <a:rPr sz="1500" b="1">
                <a:solidFill>
                  <a:srgbClr val="314158"/>
                </a:solidFill>
              </a:rPr>
              <a:t>围绕数据真实性、工程完整性和用户体验继续迭代。</a:t>
            </a:r>
            <a:endParaRPr sz="1500" b="1">
              <a:solidFill>
                <a:srgbClr val="31415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1524</Words>
  <Application>WPS 演示</Application>
  <PresentationFormat>Converted Presentation</PresentationFormat>
  <Paragraphs>304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张思成</cp:lastModifiedBy>
  <cp:revision>1</cp:revision>
  <dcterms:created xsi:type="dcterms:W3CDTF">2026-06-25T07:47:39Z</dcterms:created>
  <dcterms:modified xsi:type="dcterms:W3CDTF">2026-06-25T07:47:39Z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C3E5B2370C704808A145FC18E6AE49A5_12</vt:lpwstr>
  </property>
  <property fmtid="{D5CDD505-2E9C-101B-9397-08002B2CF9AE}" pid="3" name="KSOProductBuildVer">
    <vt:lpwstr>2052-12.1.0.23542</vt:lpwstr>
  </property>
</Properties>
</file>