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e9a440a98c40c4" /><Relationship Type="http://schemas.openxmlformats.org/officeDocument/2006/relationships/extended-properties" Target="/docProps/app.xml" Id="Rc3166827094941a4" /><Relationship Type="http://schemas.openxmlformats.org/officeDocument/2006/relationships/officeDocument" Target="/ppt/presentation.xml" Id="Rd97be20788724a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5c7b140e1461f"/>
  </p:sldMasterIdLst>
  <p:notesMasterIdLst>
    <p:notesMasterId xmlns:r="http://schemas.openxmlformats.org/officeDocument/2006/relationships" r:id="R7e0b8b3ec9b64040"/>
  </p:notesMasterIdLst>
  <p:sldIdLst>
    <p:sldId xmlns:r="http://schemas.openxmlformats.org/officeDocument/2006/relationships" id="256" r:id="R87514875358a4b32"/>
    <p:sldId xmlns:r="http://schemas.openxmlformats.org/officeDocument/2006/relationships" id="257" r:id="R6d5996fc6df344c3"/>
    <p:sldId xmlns:r="http://schemas.openxmlformats.org/officeDocument/2006/relationships" id="258" r:id="Rcc9da2ebf4504139"/>
    <p:sldId xmlns:r="http://schemas.openxmlformats.org/officeDocument/2006/relationships" id="259" r:id="Rbcf1bd770a924615"/>
    <p:sldId xmlns:r="http://schemas.openxmlformats.org/officeDocument/2006/relationships" id="260" r:id="Rddbeb19db7e4424d"/>
    <p:sldId xmlns:r="http://schemas.openxmlformats.org/officeDocument/2006/relationships" id="261" r:id="Rca157c2207484879"/>
    <p:sldId xmlns:r="http://schemas.openxmlformats.org/officeDocument/2006/relationships" id="262" r:id="R44c33ee57e714998"/>
    <p:sldId xmlns:r="http://schemas.openxmlformats.org/officeDocument/2006/relationships" id="263" r:id="R7b8cb20b4f7c46c3"/>
    <p:sldId xmlns:r="http://schemas.openxmlformats.org/officeDocument/2006/relationships" id="264" r:id="R09a53b75c5b44b26"/>
    <p:sldId xmlns:r="http://schemas.openxmlformats.org/officeDocument/2006/relationships" id="265" r:id="R01a45ffa15f34b89"/>
    <p:sldId xmlns:r="http://schemas.openxmlformats.org/officeDocument/2006/relationships" id="266" r:id="R4b63019a5fbf442e"/>
    <p:sldId xmlns:r="http://schemas.openxmlformats.org/officeDocument/2006/relationships" id="267" r:id="R7553df5e47644a40"/>
    <p:sldId xmlns:r="http://schemas.openxmlformats.org/officeDocument/2006/relationships" id="268" r:id="R60bcb5917bd34a00"/>
    <p:sldId xmlns:r="http://schemas.openxmlformats.org/officeDocument/2006/relationships" id="269" r:id="R6b51467a721f41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30caac9ad6454a" /><Relationship Type="http://schemas.openxmlformats.org/officeDocument/2006/relationships/slideMaster" Target="/ppt/slideMasters/slideMaster1.xml" Id="R7e65c7b140e1461f" /><Relationship Type="http://schemas.openxmlformats.org/officeDocument/2006/relationships/notesMaster" Target="/ppt/notesMasters/notesMaster1.xml" Id="R7e0b8b3ec9b64040" /><Relationship Type="http://schemas.openxmlformats.org/officeDocument/2006/relationships/presProps" Target="/ppt/presProps.xml" Id="R6bec3a9ca3cf4193" /><Relationship Type="http://schemas.openxmlformats.org/officeDocument/2006/relationships/tableStyles" Target="/ppt/tableStyles.xml" Id="R67d4d7ad62f44526" /><Relationship Type="http://schemas.openxmlformats.org/officeDocument/2006/relationships/slide" Target="/ppt/slides/slide1.xml" Id="R87514875358a4b32" /><Relationship Type="http://schemas.openxmlformats.org/officeDocument/2006/relationships/slide" Target="/ppt/slides/slide2.xml" Id="R6d5996fc6df344c3" /><Relationship Type="http://schemas.openxmlformats.org/officeDocument/2006/relationships/slide" Target="/ppt/slides/slide3.xml" Id="Rcc9da2ebf4504139" /><Relationship Type="http://schemas.openxmlformats.org/officeDocument/2006/relationships/slide" Target="/ppt/slides/slide4.xml" Id="Rbcf1bd770a924615" /><Relationship Type="http://schemas.openxmlformats.org/officeDocument/2006/relationships/slide" Target="/ppt/slides/slide5.xml" Id="Rddbeb19db7e4424d" /><Relationship Type="http://schemas.openxmlformats.org/officeDocument/2006/relationships/slide" Target="/ppt/slides/slide6.xml" Id="Rca157c2207484879" /><Relationship Type="http://schemas.openxmlformats.org/officeDocument/2006/relationships/slide" Target="/ppt/slides/slide7.xml" Id="R44c33ee57e714998" /><Relationship Type="http://schemas.openxmlformats.org/officeDocument/2006/relationships/slide" Target="/ppt/slides/slide8.xml" Id="R7b8cb20b4f7c46c3" /><Relationship Type="http://schemas.openxmlformats.org/officeDocument/2006/relationships/slide" Target="/ppt/slides/slide9.xml" Id="R09a53b75c5b44b26" /><Relationship Type="http://schemas.openxmlformats.org/officeDocument/2006/relationships/slide" Target="/ppt/slides/slide10.xml" Id="R01a45ffa15f34b89" /><Relationship Type="http://schemas.openxmlformats.org/officeDocument/2006/relationships/slide" Target="/ppt/slides/slide11.xml" Id="R4b63019a5fbf442e" /><Relationship Type="http://schemas.openxmlformats.org/officeDocument/2006/relationships/slide" Target="/ppt/slides/slide12.xml" Id="R7553df5e47644a40" /><Relationship Type="http://schemas.openxmlformats.org/officeDocument/2006/relationships/slide" Target="/ppt/slides/slide13.xml" Id="R60bcb5917bd34a00" /><Relationship Type="http://schemas.openxmlformats.org/officeDocument/2006/relationships/slide" Target="/ppt/slides/slide14.xml" Id="R6b51467a721f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5050698b8a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66a92a0ef41f9" /><Relationship Type="http://schemas.openxmlformats.org/officeDocument/2006/relationships/notesMaster" Target="/ppt/notesMasters/notesMaster1.xml" Id="R89b9519aa1bb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48dc4f3f5d46bb" /><Relationship Type="http://schemas.openxmlformats.org/officeDocument/2006/relationships/notesMaster" Target="/ppt/notesMasters/notesMaster1.xml" Id="R3216c35b990643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b52160e74b416f" /><Relationship Type="http://schemas.openxmlformats.org/officeDocument/2006/relationships/notesMaster" Target="/ppt/notesMasters/notesMaster1.xml" Id="R21d1cb1c6220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97e4ff1034bf7" /><Relationship Type="http://schemas.openxmlformats.org/officeDocument/2006/relationships/notesMaster" Target="/ppt/notesMasters/notesMaster1.xml" Id="Rc250f68251a5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effcefa6b4bbf" /><Relationship Type="http://schemas.openxmlformats.org/officeDocument/2006/relationships/notesMaster" Target="/ppt/notesMasters/notesMaster1.xml" Id="Ra32b017becf5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1ca7d1b3547dd" /><Relationship Type="http://schemas.openxmlformats.org/officeDocument/2006/relationships/notesMaster" Target="/ppt/notesMasters/notesMaster1.xml" Id="Rfe3b7af09a4e4b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544623a5fe4832" /><Relationship Type="http://schemas.openxmlformats.org/officeDocument/2006/relationships/notesMaster" Target="/ppt/notesMasters/notesMaster1.xml" Id="Re4c24aa911284c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e65b84a5a4256" /><Relationship Type="http://schemas.openxmlformats.org/officeDocument/2006/relationships/notesMaster" Target="/ppt/notesMasters/notesMaster1.xml" Id="Ra17f82950237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a9da173e7d4e74" /><Relationship Type="http://schemas.openxmlformats.org/officeDocument/2006/relationships/notesMaster" Target="/ppt/notesMasters/notesMaster1.xml" Id="Rbe0a5e9cb7a74b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6b8cf53de048ea" /><Relationship Type="http://schemas.openxmlformats.org/officeDocument/2006/relationships/notesMaster" Target="/ppt/notesMasters/notesMaster1.xml" Id="Rc6f20a3c485e4a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fe2a78cbed4bb6" /><Relationship Type="http://schemas.openxmlformats.org/officeDocument/2006/relationships/notesMaster" Target="/ppt/notesMasters/notesMaster1.xml" Id="R75bada70d2cc4d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18c154b08b4d55" /><Relationship Type="http://schemas.openxmlformats.org/officeDocument/2006/relationships/notesMaster" Target="/ppt/notesMasters/notesMaster1.xml" Id="Ra599df4f13dd4f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c6c786056945cb" /><Relationship Type="http://schemas.openxmlformats.org/officeDocument/2006/relationships/notesMaster" Target="/ppt/notesMasters/notesMaster1.xml" Id="R4531db2a243842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653e58d5f1403d" /><Relationship Type="http://schemas.openxmlformats.org/officeDocument/2006/relationships/notesMaster" Target="/ppt/notesMasters/notesMaster1.xml" Id="R212be523c1c3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这是一个面向“看到了商品，但不知道品牌、型号和准确检索词”的购物场景。我做的不是单个识图模型，而是一条可恢复的 Agent 工作流：把图片或文本转换成结构化商品信息，结合用户约束做检索，再完成同款和 SKU 级别的比价排序。后面重点讲四件事：工作流为什么可控、检索怎么保证约束、如何避免相似款误比价，以及怎样做故障降级和评测。当前仓库要求 Python 3.12+，只实现 Agent 核心；仓库没有 FastAPI、SSE 或客户端实现。模型标识符来自环境变量，不把固定模型名说成代码硬编码。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场景：用户在逛街、刷短视频或截图时看到一件商品，想买，但不知道品牌、型号和规格，也无法构造准确的搜索词；直接拿图片做向量搜索，只能得到“看起来像”的结果，而比价要求对象真正可比。解决方案是一条可恢复的 Agent 链路：先用 VLM 识别出结构化的品类、品牌、型号和属性，再把用户预算、平台、颜色等意图合并为带来源的约束；随后做混合召回、同款判定和 SKU 拆分，只在同一 SKU 内比价，输出带证据的解释。当前仓库实现 Agent 核心，不包含 Web API 与客户端。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第一部分讲 Workflow Agent 架构：用 LangGraph StateGraph 把识别、检索、决策编排成七个节点；所有节点共享一份 AgentState，异常走条件边分流；多轮修正只重算下游，不重复调用 VLM。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D:\E.C.26-B\src\shijiajing_agent\graph.py</a:t>
            </a:r>
          </a:p>
          <a:p xmlns:a="http://schemas.openxmlformats.org/drawingml/2006/main">
            <a:r>
              <a:t>- D:\E.C.26-B\src\shijiajing_agent\routing.py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主图里有四个条件路由决策点，全部是只读状态的纯函数。第一，识别入口：有新图片走 VLM 识别；没有图片说明是用户修正，直接写回识别结果。第二，约束校验后：缺品类或有冲突进入澄清，用户补齐后继续；约束完整才进入查询改写和混合召回。第三，检索后：有候选就标准化进入同款匹配；零结果且没放宽过，就放宽识别产生的低置信约束、最多重查一次；检索层失败直接 FAILED。第四，放宽后：还有可放宽字段就重写查询再查一次；没有就返回无结果并给出建议。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D:\E.C.26-B\src\shijiajing_agent\routing.py</a:t>
            </a:r>
          </a:p>
          <a:p xmlns:a="http://schemas.openxmlformats.org/drawingml/2006/main">
            <a:r>
              <a:t>- D:\E.C.26-B\src\shijiajing_agent\graph.py</a:t>
            </a:r>
          </a:p>
          <a:p xmlns:a="http://schemas.openxmlformats.org/drawingml/2006/main">
            <a:r>
              <a:t>- D:\E.C.26-B\src\shijiajing_agent\state.py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AgentState 是七个节点共享的唯一状态，字段值来自 Pydantic 契约。按职责分六组：标识与恢复、输入与识别、意图与检索、匹配与输出、控制和可观测。两个机制保证它可控：节点只返回自己要更新的局部字段，其余原样保留；dirty flags 标记哪些下游需要重算。配合 checkpoint 的 schema_version、state_version 做持久化和并发控制，Checkpoint 里不放大体积字段——候选只存后续节点需要的字段，模型原始响应只存哈希。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D:\E.C.26-B\src\shijiajing_agent\state.py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如果用户说“品牌不是 A，是 B”，系统不会再调用一次 VLM。apply_correction 会校验 recognition_id，把修正写回 RecognitionResult，并标记 normalization、query、retrieval、matching、ranking 和 explanation 等下游 dirty flags，只重算受影响的部分，上游已确认的状态全部保留。门面层用 request_id 做幂等；同一 session_id 在进程内串行；checkpoint 保存带 expected_version，冲突后整轮最多重放一次；同时有最大工作流步数和单轮超时保护。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D:\E.C.26-B\src\shijiajing_agent\nodes\recognition_nodes.py</a:t>
            </a:r>
          </a:p>
          <a:p xmlns:a="http://schemas.openxmlformats.org/drawingml/2006/main">
            <a:r>
              <a:t>- D:\E.C.26-B\src\shijiajing_agent\state.py</a:t>
            </a:r>
          </a:p>
          <a:p xmlns:a="http://schemas.openxmlformats.org/drawingml/2006/main">
            <a:r>
              <a:t>- D:\E.C.26-B\src\shijiajing_agent\facade.py</a:t>
            </a:r>
          </a:p>
          <a:p xmlns:a="http://schemas.openxmlformats.org/drawingml/2006/main">
            <a:r>
              <a:t>- D:\E.C.26-B\docs\workflow.md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第二部分讲 RAG 商品检索：商品标题、品牌、类目和关键属性向量化入 Milvus；查询侧把识别结果与筛选意图重写成 RetrievalQuery；四路混合召回加 Top-K 重排，硬过滤不可被模型改写。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D:\E.C.26-B\src\shijiajing_agent\adapters\milvus_retrieval.py</a:t>
            </a:r>
          </a:p>
          <a:p xmlns:a="http://schemas.openxmlformats.org/drawingml/2006/main">
            <a:r>
              <a:t>- D:\E.C.26-B\docs\milvus_schema.md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检索设计的关键是把“可放宽”和“不可放宽”分开。查询改写模型只能改写 query_text 和软词，预算、平台、评分以及用户明确或修正的品牌型号会进入 hard_filters，模型没有权限修改。Milvus 适配器融合文本向量、关键词、图像相似度和元数据匹配；如果 Milvus 不可用，可以切到本地词法实现，但响应必须标记 fallback_used。零结果时也只放宽识别产生、低置信且未锁定的字段。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D:\E.C.26-B\src\shijiajing_agent\domain\filters.py</a:t>
            </a:r>
          </a:p>
          <a:p xmlns:a="http://schemas.openxmlformats.org/drawingml/2006/main">
            <a:r>
              <a:t>- D:\E.C.26-B\src\shijiajing_agent\nodes\retrieval_nodes.py</a:t>
            </a:r>
          </a:p>
          <a:p xmlns:a="http://schemas.openxmlformats.org/drawingml/2006/main">
            <a:r>
              <a:t>- D:\E.C.26-B\src\shijiajing_agent\adapters\milvus_retrieval.py</a:t>
            </a:r>
          </a:p>
          <a:p xmlns:a="http://schemas.openxmlformats.org/drawingml/2006/main">
            <a:r>
              <a:t>- D:\E.C.26-B\src\shijiajing_agent\adapters\local_retrieval.py</a:t>
            </a:r>
          </a:p>
          <a:p xmlns:a="http://schemas.openxmlformats.org/drawingml/2006/main">
            <a:r>
              <a:t>- D:\E.C.26-B\docs\milvus_schema.md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召回之后怎么排序。四路各自取 Top 100，按商品 ID 并集去重，截断到 200。关键一步：每个通道的分数先在候选集内做 min-max 归一化到 0 到 1——向量相似度和 BM25 分数量纲不同，不归一化没法相加。归一化后加权融合：有图像通道时 dense 0.35、sparse 0.20、image 0.25、metadata 0.20；纯文本时 dense 0.50、sparse 0.30、metadata 0.20。某个通道没有分数就从分母剔除，按可用通道重新归一化，metadata 通道恒参与。最后按 recall_score 降序输出，每个候选保留每通道分数和来源通道，供解释与评测追溯。候选标准化环节单条坏数据隔离，同款匹配入口最多 60 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D:\E.C.26-B\src\shijiajing_agent\adapters\milvus_retrieval.py</a:t>
            </a:r>
          </a:p>
          <a:p xmlns:a="http://schemas.openxmlformats.org/drawingml/2006/main">
            <a:r>
              <a:t>- D:\E.C.26-B\src\shijiajing_agent\nodes\retrieval_nodes.py</a:t>
            </a:r>
          </a:p>
          <a:p xmlns:a="http://schemas.openxmlformats.org/drawingml/2006/main">
            <a:r>
              <a:t>- D:\E.C.26-B\src\shijiajing_agent\config.py</a:t>
            </a:r>
          </a:p>
          <a:p xmlns:a="http://schemas.openxmlformats.org/drawingml/2006/main">
            <a:r>
              <a:t>- D:\E.C.26-B\docs\milvus_schema.md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第三部分讲同款匹配与排序：先统一 Schema 和属性分类，再硬冲突否决加多路融合打分聚类成 SPU，最后按变体属性拆 SKU，只有同一 SKU 才进同一个比价组，排序和价格计算全部是确定性代码。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D:\E.C.26-B\src\shijiajing_agent\domain\same_item.py</a:t>
            </a:r>
          </a:p>
          <a:p xmlns:a="http://schemas.openxmlformats.org/drawingml/2006/main">
            <a:r>
              <a:t>- D:\E.C.26-B\src\shijiajing_agent\domain\sku.py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统一品牌、型号和属性，并区分身份属性、变体属性和描述属性。第二步对候选对先做硬冲突否决，例如品类、品牌、型号或身份属性冲突；没有硬冲突才融合标题相似度、属性重合、图像相似度和来源键，再用 complete-link 聚类保证簇内任意两件商品都满足合并条件。第三步按 variant 属性拆 SKU，只有相同 SKU 才进入一个比价组。实付价按 payable_price = price - coupon_amount + shipping_fee 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D:\E.C.26-B\src\shijiajing_agent\domain\normalization.py</a:t>
            </a:r>
          </a:p>
          <a:p xmlns:a="http://schemas.openxmlformats.org/drawingml/2006/main">
            <a:r>
              <a:t>- D:\E.C.26-B\src\shijiajing_agent\domain\same_item.py</a:t>
            </a:r>
          </a:p>
          <a:p xmlns:a="http://schemas.openxmlformats.org/drawingml/2006/main">
            <a:r>
              <a:t>- D:\E.C.26-B\src\shijiajing_agent\domain\sku.py</a:t>
            </a:r>
          </a:p>
          <a:p xmlns:a="http://schemas.openxmlformats.org/drawingml/2006/main">
            <a:r>
              <a:t>- D:\E.C.26-B\tests\unit\test_same_item.py</a:t>
            </a:r>
          </a:p>
          <a:p xmlns:a="http://schemas.openxmlformats.org/drawingml/2006/main">
            <a:r>
              <a:t>- D:\E.C.26-B\tests\unit\test_sku.py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排序分两层，全部确定性。组内：同一 SKU 的报价先按 payable 等于价格减券加运费算实付价，再聚合出组内最低价、平台均价和店铺标签。组间：每个比价组在六个维度上打分并归一化到 0 到 1——意图相关 0.30、同款置信 0.25、价格效用 0.20、店铺信任 0.10、评分 0.10、新鲜度 0.05；缺失维度从分母剔除重新归一化。用户偏好只提升对应维度权重、不降低其他；显式排序如按价格、评分、销量直接生效。同分时按同款置信度和 group_id 决出，结果稳定可复现。LLM 不参与任何数值计算。最后点一下证据束和事实校验：每个结论数字都绑定来源报价，解释只引用证据；模型生成的解释要过事实校验，失败就回退模板解释并如实标注。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D:\E.C.26-B\src\shijiajing_agent\domain\ranking.py</a:t>
            </a:r>
          </a:p>
          <a:p xmlns:a="http://schemas.openxmlformats.org/drawingml/2006/main">
            <a:r>
              <a:t>- D:\E.C.26-B\src\shijiajing_agent\domain\sku.py</a:t>
            </a:r>
          </a:p>
          <a:p xmlns:a="http://schemas.openxmlformats.org/drawingml/2006/main">
            <a:r>
              <a:t>- D:\E.C.26-B\src\shijiajing_agent\domain\evidence.py</a:t>
            </a:r>
          </a:p>
          <a:p xmlns:a="http://schemas.openxmlformats.org/drawingml/2006/main">
            <a:r>
              <a:t>- D:\E.C.26-B\src\shijiajing_agent\nodes\response_nodes.py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第四部分讲稳定性：每个模型节点做结构校验加语义检查，有限修复后规则降级并如实标注；按节点记录耗时、哈希和错误码等诊断证据，故障可复现。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D:\E.C.26-B\src\shijiajing_agent\adapters\ark_models.py</a:t>
            </a:r>
          </a:p>
          <a:p xmlns:a="http://schemas.openxmlformats.org/drawingml/2006/main">
            <a:r>
              <a:t>- D:\E.C.26-B\src\shijiajing_agent\evals.py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模型节点先做 Pydantic 结构校验，再做领域语义检查；失败时把错误反馈给修复循环，最多修复两次。仍失败就进入规则或模板降级，并在 response notices 中如实标注。检索层从 Milvus 降级到本地词法，如果两者都不可用，进入 FAILED。每个节点记录耗时、输入输出哈希、重试次数、降级状态、候选数量和错误码，但不记录 API Key 或模型隐藏思维链。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D:\E.C.26-B\src\shijiajing_agent\adapters\ark_models.py</a:t>
            </a:r>
          </a:p>
          <a:p xmlns:a="http://schemas.openxmlformats.org/drawingml/2006/main">
            <a:r>
              <a:t>- D:\E.C.26-B\src\shijiajing_agent\nodes\node_support.py</a:t>
            </a:r>
          </a:p>
          <a:p xmlns:a="http://schemas.openxmlformats.org/drawingml/2006/main">
            <a:r>
              <a:t>- D:\E.C.26-B\src\shijiajing_agent\adapters\observability.py</a:t>
            </a:r>
          </a:p>
          <a:p xmlns:a="http://schemas.openxmlformats.org/drawingml/2006/main">
            <a:r>
              <a:t>- D:\E.C.26-B\src\shijiajing_agent\errors.py</a:t>
            </a:r>
          </a:p>
          <a:p xmlns:a="http://schemas.openxmlformats.org/drawingml/2006/main">
            <a:r>
              <a:t>- D:\E.C.26-B\docs\troubleshooting.md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b83314c47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3f9dcae8fd4be3" /><Relationship Type="http://schemas.openxmlformats.org/officeDocument/2006/relationships/slideLayout" Target="/ppt/slideLayouts/slideLayout1.xml" Id="R0701be99d17b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1be99d17b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0d0a6f2af4a39" /><Relationship Type="http://schemas.openxmlformats.org/officeDocument/2006/relationships/notesSlide" Target="/ppt/notesSlides/notesSlide1.xml" Id="R2973f056835e46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a4cd334854e9f" /><Relationship Type="http://schemas.openxmlformats.org/officeDocument/2006/relationships/notesSlide" Target="/ppt/notesSlides/notesSlide2.xml" Id="R8e1bcd69f0a2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3ed9d7f345a6" /><Relationship Type="http://schemas.openxmlformats.org/officeDocument/2006/relationships/notesSlide" Target="/ppt/notesSlides/notesSlide3.xml" Id="R20642b60c27140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c4e6a166e42d9" /><Relationship Type="http://schemas.openxmlformats.org/officeDocument/2006/relationships/notesSlide" Target="/ppt/notesSlides/notesSlide4.xml" Id="R2255c8b4d05c49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b985a4c9422f" /><Relationship Type="http://schemas.openxmlformats.org/officeDocument/2006/relationships/notesSlide" Target="/ppt/notesSlides/notesSlide5.xml" Id="R7bd5b9f1851b40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a4d4458a400e" /><Relationship Type="http://schemas.openxmlformats.org/officeDocument/2006/relationships/notesSlide" Target="/ppt/notesSlides/notesSlide6.xml" Id="R6cc5ae3cb9fb49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c8efabd844122" /><Relationship Type="http://schemas.openxmlformats.org/officeDocument/2006/relationships/notesSlide" Target="/ppt/notesSlides/notesSlide7.xml" Id="R313423333337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90e4aaf2846e7" /><Relationship Type="http://schemas.openxmlformats.org/officeDocument/2006/relationships/notesSlide" Target="/ppt/notesSlides/notesSlide8.xml" Id="R27b8edf3150d42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9a6ab794f4694" /><Relationship Type="http://schemas.openxmlformats.org/officeDocument/2006/relationships/notesSlide" Target="/ppt/notesSlides/notesSlide9.xml" Id="R52cacf02faac49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cc614ff6643f3" /><Relationship Type="http://schemas.openxmlformats.org/officeDocument/2006/relationships/notesSlide" Target="/ppt/notesSlides/notesSlide10.xml" Id="Raecba4b0e2ba45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e2d3492754e8c" /><Relationship Type="http://schemas.openxmlformats.org/officeDocument/2006/relationships/notesSlide" Target="/ppt/notesSlides/notesSlide11.xml" Id="R09050f52c4df41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333ec2d144af7" /><Relationship Type="http://schemas.openxmlformats.org/officeDocument/2006/relationships/notesSlide" Target="/ppt/notesSlides/notesSlide12.xml" Id="R442d5fdeff654a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a01e24ada4b3f" /><Relationship Type="http://schemas.openxmlformats.org/officeDocument/2006/relationships/notesSlide" Target="/ppt/notesSlides/notesSlide13.xml" Id="Re2c23c992dc248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56804560443a" /><Relationship Type="http://schemas.openxmlformats.org/officeDocument/2006/relationships/notesSlide" Target="/ppt/notesSlides/notesSlide14.xml" Id="R266ad275a52b43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4ED94C-7722-4702-8F5E-6F40569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识价镜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FAC6B4-E046-4CF8-AC07-6258575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AI 拍照识物与智能比价购物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F039B-55A5-43E9-9481-316497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81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讲述人：张思成</a:t>
            </a:r>
          </a:p>
        </p:txBody>
      </p:sp>
    </p:spTree>
    <p:extLst>
      <p:ext uri="{BB962C8B-B14F-4D97-AF65-F5344CB8AC3E}">
        <p14:creationId xmlns:p14="http://schemas.microsoft.com/office/powerpoint/2010/main" val="1437775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3E98470-7A00-4CD8-AF1F-39F19C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用户看到了商品，却搜不到、比不了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5F9-9D0C-4992-9C4C-29FE174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26BB-3F5B-4232-B40D-A5F910C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6642-C015-4D1F-9E0E-4C69103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BB9D-DC02-4224-8D5A-4168814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逛街 / 刷到想买的商品，叫不出名字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不知道品牌、型号、规格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无法构造准确的搜索词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图搜只返回“长得像”，不敢比价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73CE-344A-4704-8651-100CBB3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19B2-E7D8-424A-A319-F4DAB2F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项目解决方案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1038-17F6-4036-BDBF-E78E78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VLM 识别 → 品类 / 品牌 / 型号 / 属性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意图理解 → 带来源的购物约束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混合召回 → 同款判定 → SKU 拆分</a:t>
            </a:r>
          </a:p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同一 SKU 内比价，输出带证据的解释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971DF-2483-496D-A10B-5196062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093C-CC40-42F0-816A-5E57B143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项目简介与业务场景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8608D-AF32-42E9-92A1-A619352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4816544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67158-1079-4881-905E-1A146DA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B7A47-D897-4D3A-9086-2B6251B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B26F8-8768-4077-967D-F9ACE72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Workflow Agent 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7B1E8-D345-400B-BC72-148448F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2BC3-AB60-4E31-AC6B-E5E0940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StateGraph 编排 · 共享状态与条件边路由 · 多轮修正局部重算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D03FB-9550-43D9-95E4-B4F1D8DE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4842F-2A3F-40FF-B857-913C4424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Workflow Agent 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9CD94-2121-4DB7-ABCE-DB7A898C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0727907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0EDD440-045C-4896-8BCD-29775F4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条件路由：什么情况走哪条分支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38A8-74DD-4352-9946-39CE07AA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9C4D9-7569-4D6D-B530-29748285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F4E18-C463-416A-BC52-55AEB9A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01FD0-7366-4137-B4A6-8E8A4768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4FF8A-1908-4E44-AA22-71D450DB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A9B1A-C707-4D87-80D4-1A2E2EB4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32CF2-2001-4207-BEAC-7249A9B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33525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1F46A-6601-45CA-AEFB-46147350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9D4C7-B9C8-4829-9F30-6D30E60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输入校验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5F00F-193F-4A58-8D4F-405EB24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847C0-C7B9-415E-A10B-80A78D6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识别/修正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0113A-8BE3-42BD-B6E6-B3246BA3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3B02-41D7-4767-9DE1-C40F10D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意图与约束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CA8CB-868F-4466-971A-ECE0841A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1C212-E3DA-4115-A77D-9583BB20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混合召回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63EC7-49CB-4371-8EA6-FE815A1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38AF8-2D20-478E-BD52-30F3183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同款+SKU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8C51E-4B57-4A0A-ADAE-3292117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ADB85-AAB6-48B6-B192-F16B080A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排序+证据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EC10D-1291-464E-A1CE-A842CC36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335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FAA05-0E6E-4AD6-BDCB-B5F73869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097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响应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6C606-74A3-41DA-B3B6-017B39A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5334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305AA-66D9-4C74-9FC8-D14F017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4C3EB-4E8B-422A-B22E-DCA7F20D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52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识别入口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FDADD-6C2D-4D02-AA42-618D0835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route_recognition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5B1FB-D213-42C0-A258-204D9010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新图片 → VLM 识别（recognize_image）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无图片 · 用户修正 → 直接写回（apply_correction）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4A9B8-5DD1-48DC-B62F-A7893D4B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5334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8044D-B265-4360-B43B-0142047B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145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CB0D2-1D19-45C5-8EDC-CC63C87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52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约束校验后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A508F-91F2-448B-9D70-15F1A5B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5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route_after_validation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482FA-6025-4E96-8379-DB77019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缺品类 / 约束冲突（clarify）→ 澄清响应，等用户补齐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约束完整 → 查询改写 → 混合召回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D645B-68DF-4C40-87D3-134AE06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5334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8D9D0-A80F-4AEA-B794-ECECAEF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C062B-2B84-42A6-9BDE-51D327A5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52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F4E1E-0634-43DE-92E7-79A57979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577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route_retrieval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42B3CD-8C01-46BE-A5BB-64F1CB8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有候选 → 标准化 → 同款匹配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零结果 · 未放宽 → 放宽低置信识别约束，重查 1 次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检索层失败（failed）→ FAILED 响应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7C4C7-88A2-4A88-9E1D-08BADCE3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53340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7E4ABF-55BA-464E-A484-5A307E8E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148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F107D5-F863-4218-9A58-6EACD32D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52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放宽后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CD926B-BE2C-4F3D-82F3-37D94793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577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route_after_relax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6BA41A-5F1D-4149-B2F5-F69149AD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6252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有可放宽字段（rewrite）→ 重写查询 → 再查一次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无可放宽字段 → 无结果响应，给出建议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E45516-DEE7-4690-A0D3-27B51DF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5D8AE8-C44C-43A4-A081-C67EF53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Workflow Agent 架构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B68E3C-6D19-41C6-BE2A-C6E2C68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7478867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8C698E4-79EB-45CB-8FCE-6403364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AgentState：七个节点共享的唯一状态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4D7DF-48AC-482B-870A-2D68F5A3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ADFFE-8211-4D38-AB57-C5AA209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3FB0C-C55B-4BDE-A477-C6EB4EC0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标识与恢复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7B7EB-FF5E-4848-AF97-AC1AA710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schema_version · session_id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request_id · state_version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74D7B-9FC6-487A-A372-E7C7AFE1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2ADF7-D5FB-445C-876E-8558AFD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输入与识别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2BC67-8C50-4093-A061-FE970FF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current_request · image_ref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recognition · recognition_id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48EDF-AC65-4B5B-B0B9-6FBF9EA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ECAC0-1E07-480B-B1E5-C9697A8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意图与检索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9AEF2-18AA-4F76-923B-D86FD03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intent_patch · effective_constraints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retrieval_query ·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497C-A3B6-433F-82D5-B9C8C5F5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4B1CF-C40F-4C87-8C89-DB840EC2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匹配与输出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1D11B-45A0-49F3-92C6-006272E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spu_clusters · sku_groups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ranked_groups ·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371E9-D631-405E-A5D3-FC7C0B4D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43754-142C-45CB-BB15-781BEEE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993CB-9AA0-4329-A8E7-E727B0B2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dirty_flags · next_action</a:t>
            </a:r>
          </a:p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step_count · completion_reason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F653D-CB4C-4F02-8031-81C8BF8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20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6A6A3-1602-4A54-8AFC-9E227EC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EA8F4-63E7-4863-8A9A-411CF77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node_events · fallbacks ·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39D9B-AC5E-47A9-B247-9232D02F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5FAFA-DDDB-4D7F-B8B2-AED2D1C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节点只写自己负责的字段；dirty flags 决定下游重算，Checkpoint 只持久化后续必需字段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06C5F-6C35-45B3-9FB1-77EE5CB2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E6490-8418-48D5-8B2E-225015F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Workflow Agent 架构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70F16-343B-4502-AB91-6CFCC77E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2378709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FCB6FF8-16F5-499F-BF30-B7BB3589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多轮修正只重算受影响的下游链路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F2077-8BAA-4AF7-92E4-FBD3A19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9A24E-7293-4FD2-A3F0-03D0AFC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03539-9FA2-43FA-8F0C-F0E277B7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1490F-90DF-4E14-84AF-B296CFC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B24B9-9035-4CAA-88BD-1453221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B2ED5-8FF6-4BEC-AC28-6086F0E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FEAFB-7EDD-4EEB-A43D-6D13DAA6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A3675-6052-4211-B489-E980777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09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用户指出识别错误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25B26-B950-40A2-A5A3-8627218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2766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校验 recognition_id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7BE5B-5FA0-492F-A4E3-1DE5F5DD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09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写回</a:t>
            </a:r>
          </a:p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RecognitionResult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664D3-3F59-4FD6-8CDB-C6DA7BB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766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用户修正成为高优先级事实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260E5-FEF3-46AC-B421-B3F33656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标记下游</a:t>
            </a:r>
          </a:p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dirty flags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4C2EE-F7C2-4F39-B0CD-C2B99C4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normalization →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6E526-67B4-4231-B979-FE719948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09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跳过 VLM，局部重算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56DDB-8603-4AC7-832A-30025A0B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766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保留上游已确认状态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47A5D-4748-4DAA-ACB0-68FA5D16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9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保存新 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15F29-738D-4801-80A5-FCE30EE7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766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带 expected_version 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52DA4-6920-4DB5-814C-32E6F938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744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ACCC9-3A5B-472B-B3DE-EB695E7F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request_id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B6423-02D0-4E34-AD3B-69C84383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重复请求返回已保存响应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9CD6B-F104-40E8-A911-79C09AA1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session_id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861DD-F9E1-4F67-B9FC-5F50475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67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同会话串行执行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7B839-AC58-4459-B91B-FCFC24B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05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state_version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0B794-4C6C-40F7-AA11-27F6A25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67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冲突后整轮最多重放一次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479DD-D3C4-4388-A441-6B6B40E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max steps / timeout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BE838-0563-44C2-8B3A-5D65486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避免工作流失控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3A73AF-A866-4508-9EDF-A626ACC5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25C79-69E2-4FCB-9B69-038BCA5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Workflow Agent 架构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46B6E-4842-468D-9B4A-805C8D98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0714301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CEA44-8ED7-4C49-847A-C9CE422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DF3DF-0C36-441E-B9CD-D0ED4E8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EC36E-3D4A-4280-9846-1507116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RAG 商品检索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693E0-E0C1-49DB-BE54-F806E6FE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6774-046E-424A-94FC-73DB473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Milvus 向量索引 · 识别与意图重写查询 · 四路混合召回与 Top-K 重排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10D4C-0757-48ED-9A6A-5ABAF12B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2912A-9F6B-4A19-B558-580A4BB1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RAG 商品检索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E240E-5266-41EB-9177-3DD6589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1068888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F823538-981F-4021-A4FC-841E100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把识别结果拆成硬过滤与软召回信号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D6476-EC40-4C1E-AE0B-28860D5D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7555-3B77-4C3D-BDA9-F25A1E1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AAF78-6507-4712-BBBF-28B0CAB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71EA-066E-4F85-8B16-B37C3B7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190750" cy="21526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493E-9457-4CE0-958F-ADBD3CA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516DE-3E24-4361-930D-F3A5A477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RecognitionResult</a:t>
            </a:r>
          </a:p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IntentPatch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6227E-228A-450C-A94E-64F6FB58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339090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64DF7-0FF5-484A-9BD5-81A3C6F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859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RetrievalQuery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F4B9F-C1CC-49F1-BD1D-717553F1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95550"/>
            <a:ext cx="2514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query_text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hard_filters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soft_terms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negative_terms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4F083-3D39-44DA-ABA7-04AD9EC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210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38148-66B2-44B8-B97D-7A99719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四路召回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88C05-2D1C-4B83-89C6-D0A9546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F97DB-D3A4-4666-AD9B-AEB392B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9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Dense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7621D-EE0D-4032-9050-5A1A18F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5F434-3163-469E-B8B8-ECF1FAB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289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Sparse / lexical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AE47B-7E84-4BF1-B854-C262BCA4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52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9E648-7FA8-4839-8E47-B6597A8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480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Image similarity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405D7-F8E5-47EA-97F4-162C86B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71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D0C16-616E-4094-9BF3-75EFB32C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67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Metadata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499B5-143D-46D5-A420-78DCCC8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融合召回 → 去重 / 截断 → RetrievalCandidate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57C78-DE7D-4B3A-8730-EBE0D01A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40DF8-14EA-4AFA-BF2B-816F2F0D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用户硬过滤不可被模型改写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DB097-8FD4-43A4-9D23-3827B7A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959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零结果仅放宽低置信识别约束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75D71-8772-4EC9-BEB6-9E6313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Milvus 不可用，</a:t>
            </a:r>
          </a:p>
          <a:p xmlns:a="http://schemas.openxmlformats.org/drawingml/2006/main">
            <a:pPr algn="r"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明确标记本地词法降级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09922-537D-4F73-B055-37FA2C5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18077-FC8B-46A9-A6F0-8E1DB456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RAG 商品检索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3203D-C112-419F-AD87-2E9F079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898915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0F7AE6A-9FAE-4A0C-8B2C-9076333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融合与 Top-K：四路信号合成一个分数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2F700-42A0-4634-9756-26312CA3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0EC85-4216-4669-8358-6EF4321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F392C-4417-49A8-88A3-34158B2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四路召回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每路 Top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2DB3-A7DF-42AE-BC6F-B7CAD4C5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478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07A82-DAAB-4D20-A3B6-C3147E4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287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4CAC3-AD44-447E-A974-CD7D0B7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85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并集去重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≤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94E86-1E22-43D2-AA94-96F2A6E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478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7C310-BFEC-4BF8-9D44-1E016EA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287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6C75-FA6B-4C0C-B11A-6ADA3C3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85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通道分数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min-max 归一化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E9F62-AD37-4976-A68E-CEB9811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E0AB2-C2D8-4660-812A-95048BC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B6520-E62D-4FD6-933F-4793E08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85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加权融合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recall_score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60F28-EC6D-4028-84A3-FDFA5F45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478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CA09E-8683-4B5B-9B7A-1B94F7F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87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5B2AE-4E0D-4D02-B131-1C6C4CF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85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降序输出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候选列表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F6754-1642-4B74-8565-E96383A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8F9C9-C1C3-48FF-B042-7A27EDA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通道权重（缺通道剔除分母）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6C38E-67B7-4B79-90E5-FAD6B72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876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有图像：dense 0.35 · sparse 0.20 · image 0.25 · metadata 0.20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纯文本：dense 0.50 · sparse 0.30 · metadata 0.20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缺通道按可用通道重新归一化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metadata 通道恒参与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040BA-80B5-4376-AC40-D5AE151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56585-7885-4C6D-8BC2-D9A1FE3E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输出与后续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0E695-3340-4D82-9F75-B9D3B7C6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876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RetrievalCandidate 保留每通道分数与 channel_sources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normalize_candidates：单条坏数据隔离，不拖垮整批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同款匹配入口上限 60 条（MATCHING_CANDIDATE_LIMIT）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60ADA-AB0F-44BB-8B4D-A9CD9FF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ED0B4-F6DB-4509-9A73-61FC34F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排序依据可追溯：每通道分数与来源随候选保留，供解释与评测使用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BDC1A-C0D3-4247-9685-B1581A7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AE420-71AA-47DD-A2C0-6B4A784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RAG 商品检索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F667E-AAD0-4BB4-9568-A10B61CF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452223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39974-A74F-4A3E-9EEC-9204AFEE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8FF80-19BE-4F41-91BF-A2D17FCC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6878-9A69-4A75-A496-37A0943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同款匹配与多阶段排序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9DC5C-4FE9-4169-8AD4-B050DAB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EA713-53EB-45AA-82F2-BB23A4B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统一商品 Schema · 同款硬冲突判定与聚类 · SKU 拆分与确定性比价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65D87-CF53-493F-800C-18250117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6A008-8823-49E8-815B-9185064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同款匹配与多阶段排序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F0729-3271-4426-A158-CF0C488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03585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436D6529-E9E4-4FF7-BE94-56E8670F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先同款判断，再价格判断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715AE-A652-4BE9-AD87-7FFFA711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0B1FE-28E8-4497-94C3-E7159273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CFC94-95FD-41C2-AF9B-FA37DEF5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A2A93-EAA1-47FA-8512-5AF5426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654B2-F8CA-4229-8210-8C559E9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字段标准化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10A6A-86B0-47ED-8EF0-DA239684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686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20A41-F4C6-4C15-8EB7-DA3B02BC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4193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offer_id · platform · product_id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category_id · brand · model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same_item_key · sku_key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identity / variant / descriptive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price · coupon · shipping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shop · seller_type · 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05AA1-18A4-4646-B1B8-6F7D86FA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52CE7-D430-48DE-A1FF-DA8FB810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同款判定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C27BE-77D8-4175-ACA9-645F3B35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硬冲突：索尼 vs Bose → 排除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打分：标题·属性·图像·来源键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聚类：簇内两两达标 → 一个 SPU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6240B-26FF-4E10-8236-9F2A88C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091FA-F296-4510-ADC1-DA739F16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SKU 与价格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B5694-8740-4A6D-88D2-B127767B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拆 SKU：黑色 / 银色 → 两个 SKU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比价组：同 SKU 的京东 / 淘宝报价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实付：1999 − 100 券 = 1899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D2569-E905-443E-990B-2CBE63EE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注：SPU＝同款商品的集合（如 WH-1000XM5 各颜色款）；SKU＝具体规格的最小可售单元（如 WH-1000XM5 黑色款）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56C51-3A12-4CFB-9D45-6796512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8A194-5B1C-41D6-87F7-8F96600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同款匹配与多阶段排序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DC516-2E3E-4399-A5D4-1709000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5853921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472E1A19-A202-4420-BED5-ACCE1E84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组内聚合，组间排序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A92F3-F002-4093-AFDE-8E9E4EB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64DE-9E8E-431A-A8A6-F01F18D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699D6-3FF9-4BB4-827C-92A5121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组内聚合（同一 SKU 内）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29719-9417-4C82-B340-790F384E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876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实付价：payable = price − coupon + shipping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聚合：组内最低价 min_price · 平台均价 · 店铺标签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例：黑色款 1999 − 100 券 = 1899（最低价）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例：京东 1899 / 淘宝 2099 → 均价 1999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22B8A-5A9F-4B53-BA5F-AC3DEC5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A2531-16FB-44A5-8B46-73AA029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组间排序（各比价组之间）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7BC12-0EEE-4600-A161-C177CA1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876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六维归一化打分：意图相关 0.30 · 同款置信 0.25 · 价格效用 0.20</a:t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店铺信任 0.10 · 评分 0.10 · 新鲜度 0.05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缺失维度剔除分母，重新归一化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用户偏好只提升不降低；显式排序直接生效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tie-breaker：置信度 → group_id，结果可复现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6DB42-B8CE-4748-AB12-2C764E47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1DB38-F60F-4511-BFFF-A3F66DB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LLM 不参与任何数值排序；每个分量都进入证据束，解释时说得清为什么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D1356-8F1A-4AE2-A274-5EF4019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AC13F-7A3A-49AB-853F-61D43522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同款匹配与多阶段排序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2D15-F87D-48F2-B5C6-7A1558D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35100241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FE1D8-20C1-4A09-9015-D8F161B7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7A115-7228-4150-8E8E-5A37DCDE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6236E-A2E4-446D-9B0D-FD0CDAB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AI Pipeline 稳定性与评测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7A44C-620B-4690-8347-CD952FE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38192-72B8-4FA1-889E-A0CF336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Pydantic 校验与有限修复 · 降级与可观测 · 诚实标注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2D27A-C5A8-460E-BC19-8C18F972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F99F9-9F60-4F4F-9D92-A8EAF012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AI Pipeline 稳定性与评测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DF6C5-325D-4440-AE06-4B7BF06D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8683015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60B08C6D-BC47-4C80-B828-1F0AACC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可观察、可降级、可复现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60336-E15C-471F-B82A-0D669D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ED219-9AE8-474C-9801-3ECC37B0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BB61D-DB09-4A1F-A3AA-FC697F58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EA338-FAAB-46B4-B100-D0D73DA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AA03-B7BD-4BAC-B610-3E5539F0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输出校验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ECAF6-5E5B-4A62-8B0D-A5C4463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Pydantic 校验：extra=forbid 严格类型检查，拦截格式与字段错误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语义检查：对照 taxonomy 校验识别结果，拦截不合规内容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修复 ≤2 次：精简错误列表反馈模型重生成，仍失败进入降级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9E4C9-C252-4E5C-A513-64363CF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B1BBB-D98A-444C-BEF7-927D742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降级路径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E4670-3032-4E3D-BDB9-8EE78DE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意图解析失败 → 规则解析兜底，抽取预算 / 平台等关键词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改写模型失败 → 硬过滤构造查询，硬约束不受影响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解释校验不过 → 证据模板兜底，只引用证据束数字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FD533-80F0-49C3-A6EF-FFB1F038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9F15B-F520-4536-996F-A28372F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FF5A1-8692-434A-8349-3790168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记录：节点耗时 · 输入输出哈希 · 重试次数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记录：候选数 · 错误码 · fallback 标记</a:t>
            </a:r>
          </a:p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不记录：API Key · 模型内部思维链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5C036-A1AB-4A9F-B61B-A564756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1EC10-DC31-400A-8B21-D861ABE4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AI Pipeline 稳定性与评测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E9566-74C2-49B8-905B-751464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02581206"/>
      </p:ext>
    </p:extLst>
  </p:cSld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14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2026-08-18T08:52:15.4830000Z</dcterms:created>
  <dcterms:modified xsi:type="dcterms:W3CDTF">2026-08-18T08:52:15.4830000Z</dcterms:modified>
</coreProperties>
</file>